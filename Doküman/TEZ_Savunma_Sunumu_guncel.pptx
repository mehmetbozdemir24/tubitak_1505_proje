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3.xml" ContentType="application/vnd.openxmlformats-officedocument.drawingml.chart+xml"/>
  <Override PartName="/ppt/notesSlides/notesSlide34.xml" ContentType="application/vnd.openxmlformats-officedocument.presentationml.notesSlide+xml"/>
  <Override PartName="/ppt/charts/chart4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97" r:id="rId28"/>
    <p:sldId id="279" r:id="rId29"/>
    <p:sldId id="280" r:id="rId30"/>
    <p:sldId id="281" r:id="rId31"/>
    <p:sldId id="282" r:id="rId32"/>
    <p:sldId id="283" r:id="rId33"/>
    <p:sldId id="296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5" r:id="rId45"/>
    <p:sldId id="294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80F17-CFA5-4EE2-98EE-35FE67053008}" v="2" dt="2026-06-25T19:18:03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5000" autoAdjust="0"/>
  </p:normalViewPr>
  <p:slideViewPr>
    <p:cSldViewPr snapToGrid="0" snapToObjects="1">
      <p:cViewPr varScale="1">
        <p:scale>
          <a:sx n="103" d="100"/>
          <a:sy n="103" d="100"/>
        </p:scale>
        <p:origin x="9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F1</c:v>
                </c:pt>
              </c:strCache>
            </c:strRef>
          </c:tx>
          <c:spPr>
            <a:solidFill>
              <a:srgbClr val="1B5E8C">
                <a:alpha val="100000"/>
              </a:srgbClr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0,846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FCD-4277-96B7-90260A277E49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Yalnızca Şema</c:v>
                </c:pt>
                <c:pt idx="1">
                  <c:v>+ Örnek Veri</c:v>
                </c:pt>
                <c:pt idx="2">
                  <c:v>+ Hibrit Sorgu (TR+EN)</c:v>
                </c:pt>
                <c:pt idx="3">
                  <c:v>+ Gelişmiş Gömme Modelleri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</c:v>
                </c:pt>
                <c:pt idx="1">
                  <c:v>0.79800000000000004</c:v>
                </c:pt>
                <c:pt idx="2">
                  <c:v>0.81</c:v>
                </c:pt>
                <c:pt idx="3">
                  <c:v>0.84599999999999997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1-419C-8B40-B46EA24990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6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 Skoru</c:v>
                </c:pt>
              </c:strCache>
            </c:strRef>
          </c:tx>
          <c:spPr>
            <a:solidFill>
              <a:srgbClr val="1B5E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Gemini-1.5-pro</c:v>
                </c:pt>
                <c:pt idx="2">
                  <c:v>Qwen2.5-14B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0.84</c:v>
                </c:pt>
                <c:pt idx="2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81-4E40-8B4C-615052B440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Tablo Benzerliği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Gemini-1.5-pro</c:v>
                </c:pt>
                <c:pt idx="2">
                  <c:v>Qwen2.5-14B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</c:v>
                </c:pt>
                <c:pt idx="1">
                  <c:v>0.9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81-4E40-8B4C-615052B440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SQL Benzerliği</c:v>
                </c:pt>
              </c:strCache>
            </c:strRef>
          </c:tx>
          <c:spPr>
            <a:solidFill>
              <a:srgbClr val="E0A0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Gemini-1.5-pro</c:v>
                </c:pt>
                <c:pt idx="2">
                  <c:v>Qwen2.5-14B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0.92</c:v>
                </c:pt>
                <c:pt idx="2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81-4E40-8B4C-615052B44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224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43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2243F"/>
                </a:solidFill>
                <a:latin typeface="Calibri"/>
              </a:rPr>
              <a:t>Toplam Hata Sayısı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RAFT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Gemini-1.5-pro</c:v>
                </c:pt>
                <c:pt idx="2">
                  <c:v>Qwen2.5-14B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278</c:v>
                </c:pt>
                <c:pt idx="1">
                  <c:v>301</c:v>
                </c:pt>
                <c:pt idx="2">
                  <c:v>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5-4846-AA0F-69B38DCF5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GPT-4o</c:v>
                </c:pt>
                <c:pt idx="1">
                  <c:v>Gemini-1.5-pro</c:v>
                </c:pt>
                <c:pt idx="2">
                  <c:v>Qwen2.5-14B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410</c:v>
                </c:pt>
                <c:pt idx="1">
                  <c:v>341</c:v>
                </c:pt>
                <c:pt idx="2">
                  <c:v>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75-4846-AA0F-69B38DCF59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224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43F"/>
                </a:solidFill>
                <a:latin typeface="Calibri"/>
              </a:defRPr>
            </a:pPr>
            <a:r>
              <a:rPr lang="en-US" sz="1300" b="0" i="0" u="none" strike="noStrike" dirty="0" err="1">
                <a:solidFill>
                  <a:srgbClr val="12243F"/>
                </a:solidFill>
                <a:latin typeface="Calibri"/>
              </a:rPr>
              <a:t>CoT</a:t>
            </a:r>
            <a:r>
              <a:rPr lang="en-US" sz="1300" b="0" i="0" u="none" strike="noStrike" dirty="0">
                <a:solidFill>
                  <a:srgbClr val="12243F"/>
                </a:solidFill>
                <a:latin typeface="Calibri"/>
              </a:rPr>
              <a:t> Performans </a:t>
            </a:r>
            <a:r>
              <a:rPr lang="en-US" sz="1300" b="0" i="0" u="none" strike="noStrike" dirty="0" err="1">
                <a:solidFill>
                  <a:srgbClr val="12243F"/>
                </a:solidFill>
                <a:latin typeface="Calibri"/>
              </a:rPr>
              <a:t>Kazanımı</a:t>
            </a:r>
            <a:r>
              <a:rPr lang="en-US" sz="1300" b="0" i="0" u="none" strike="noStrike" dirty="0">
                <a:solidFill>
                  <a:srgbClr val="12243F"/>
                </a:solidFill>
                <a:latin typeface="Calibri"/>
              </a:rPr>
              <a:t> (</a:t>
            </a:r>
            <a:r>
              <a:rPr lang="en-US" sz="1300" b="0" i="0" u="none" strike="noStrike" dirty="0" err="1">
                <a:solidFill>
                  <a:srgbClr val="12243F"/>
                </a:solidFill>
                <a:latin typeface="Calibri"/>
              </a:rPr>
              <a:t>Karmaşıklığa</a:t>
            </a:r>
            <a:r>
              <a:rPr lang="en-US" sz="1300" b="0" i="0" u="none" strike="noStrike" dirty="0">
                <a:solidFill>
                  <a:srgbClr val="12243F"/>
                </a:solidFill>
                <a:latin typeface="Calibri"/>
              </a:rPr>
              <a:t> Göre)</a:t>
            </a:r>
            <a:r>
              <a:rPr lang="tr-TR" sz="1300" b="0" i="0" u="none" strike="noStrike" dirty="0">
                <a:solidFill>
                  <a:srgbClr val="12243F"/>
                </a:solidFill>
                <a:latin typeface="Calibri"/>
              </a:rPr>
              <a:t>-gpt-4o</a:t>
            </a:r>
            <a:endParaRPr lang="en-US" sz="1300" b="0" i="0" u="none" strike="noStrike" dirty="0">
              <a:solidFill>
                <a:srgbClr val="12243F"/>
              </a:solidFill>
              <a:latin typeface="Calibri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 Etkisi (%)</c:v>
                </c:pt>
              </c:strCache>
            </c:strRef>
          </c:tx>
          <c:spPr>
            <a:solidFill>
              <a:srgbClr val="E0A03A"/>
            </a:solidFill>
            <a:effectLst/>
          </c:spPr>
          <c:invertIfNegative val="0"/>
          <c:dLbls>
            <c:numFmt formatCode="\+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224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Kolay
(1 Tablo)</c:v>
                </c:pt>
                <c:pt idx="1">
                  <c:v>Orta
(2 Tablo)</c:v>
                </c:pt>
                <c:pt idx="2">
                  <c:v>Zor
(3 Tablo)</c:v>
                </c:pt>
                <c:pt idx="3">
                  <c:v>Çok Zor
(4 Tablo)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</c:v>
                </c:pt>
                <c:pt idx="1">
                  <c:v>5.38</c:v>
                </c:pt>
                <c:pt idx="2">
                  <c:v>13.54</c:v>
                </c:pt>
                <c:pt idx="3">
                  <c:v>36.369999999999997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17-4DBE-BA96-8202791EB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224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53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045D-0F00-51FD-0733-8E8D749D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76255-8270-6A44-CF2A-315BF7B82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F77BA-C428-329E-FEF1-828C660C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D12CD-B5EE-3807-6B36-51E370D97D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985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179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7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3291840"/>
            <a:ext cx="4754880" cy="4754880"/>
          </a:xfrm>
          <a:prstGeom prst="ellipse">
            <a:avLst/>
          </a:prstGeom>
          <a:solidFill>
            <a:srgbClr val="152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11480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400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ULUDAĞ ÜNİVERSİTESİ  ·  FEN BİLİMLERİ ENSTİTÜSÜ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9601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Mühendisliği Anabilim Dalı  ·  Doktora Tezi Savunması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1600200"/>
            <a:ext cx="640080" cy="73152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78308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Erişim Destekli Uyarlama Yöntemi ile Türkçe Sözel İfadelerin Yapılandırılmış Sorgu Dilinin Üretilmesi ve Performans Analizi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66928" y="4069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and Performance Analysis of Structured Query Language from Turkish Verbal Expressions via Retrieval-Augmented Fine-Tuning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983480"/>
            <a:ext cx="32004" cy="11430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5528" y="4983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
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BOZDEMİR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4983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
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Metin BİLGİN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0" y="4983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AKIŞI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Planı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075688" y="20482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412" y="2172980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98648" y="20208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Giriş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898648" y="2377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motivasyon, araştırma boşluğu ve katkılar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953512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6968" y="2953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2075688" y="3127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412" y="32519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30998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Materyal ve Yöntem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898648" y="34564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kümesi, RAG ve RAFT mimarileri, metrikler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4032504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86968" y="40325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Shape 14"/>
          <p:cNvSpPr/>
          <p:nvPr/>
        </p:nvSpPr>
        <p:spPr>
          <a:xfrm>
            <a:off x="2075688" y="42062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ba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0412" y="4330964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898648" y="4178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Bulgular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898648" y="45354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erişimi, RAG ve RAFT karşılaştırmalı sonuçlar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66928" y="5111496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86968" y="51114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800" dirty="0"/>
          </a:p>
        </p:txBody>
      </p:sp>
      <p:sp>
        <p:nvSpPr>
          <p:cNvPr id="24" name="Shape 19"/>
          <p:cNvSpPr/>
          <p:nvPr/>
        </p:nvSpPr>
        <p:spPr>
          <a:xfrm>
            <a:off x="2075688" y="52852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icons/troph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412" y="5409956"/>
            <a:ext cx="317480" cy="317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898648" y="5257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ve Sonuç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2898648" y="561441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soruları, sınırlılıklar, gelecek çalışmalar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365760"/>
            <a:ext cx="402336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3000" b="1" dirty="0">
                <a:solidFill>
                  <a:srgbClr val="1C3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BÖLÜM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816352"/>
            <a:ext cx="566928" cy="64008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Giriş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probleminin önemi, büyük dil modellerinin rolü, Türkçe gibi düşük kaynaklı dillerdeki zorluklar ve tezin özgün katkıları.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ve Motivasyon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/>
              <a:t>Veri </a:t>
            </a:r>
            <a:r>
              <a:rPr lang="en-US" sz="1600" dirty="0" err="1"/>
              <a:t>tabanlarına</a:t>
            </a:r>
            <a:r>
              <a:rPr lang="en-US" sz="1600" dirty="0"/>
              <a:t> </a:t>
            </a:r>
            <a:r>
              <a:rPr lang="en-US" sz="1600" dirty="0" err="1"/>
              <a:t>erişim</a:t>
            </a:r>
            <a:r>
              <a:rPr lang="en-US" sz="1600" dirty="0"/>
              <a:t> SQL </a:t>
            </a:r>
            <a:r>
              <a:rPr lang="en-US" sz="1600" dirty="0" err="1"/>
              <a:t>bilgisi</a:t>
            </a:r>
            <a:r>
              <a:rPr lang="en-US" sz="1600" dirty="0"/>
              <a:t> </a:t>
            </a:r>
            <a:r>
              <a:rPr lang="en-US" sz="1600" dirty="0" err="1"/>
              <a:t>gerektirir</a:t>
            </a:r>
            <a:r>
              <a:rPr lang="en-US" sz="1600" dirty="0"/>
              <a:t>; </a:t>
            </a:r>
            <a:r>
              <a:rPr lang="en-US" sz="1600" dirty="0" err="1"/>
              <a:t>doğal</a:t>
            </a:r>
            <a:r>
              <a:rPr lang="en-US" sz="1600" dirty="0"/>
              <a:t> </a:t>
            </a:r>
            <a:r>
              <a:rPr lang="en-US" sz="1600" dirty="0" err="1"/>
              <a:t>dil</a:t>
            </a:r>
            <a:r>
              <a:rPr lang="en-US" sz="1600" dirty="0"/>
              <a:t> </a:t>
            </a:r>
            <a:r>
              <a:rPr lang="en-US" sz="1600" dirty="0" err="1"/>
              <a:t>ile</a:t>
            </a:r>
            <a:r>
              <a:rPr lang="en-US" sz="1600" dirty="0"/>
              <a:t> </a:t>
            </a:r>
            <a:r>
              <a:rPr lang="en-US" sz="1600" dirty="0" err="1"/>
              <a:t>erişim</a:t>
            </a:r>
            <a:r>
              <a:rPr lang="en-US" sz="1600" dirty="0"/>
              <a:t> (Text-to-SQL) </a:t>
            </a:r>
            <a:r>
              <a:rPr lang="en-US" sz="1600" dirty="0" err="1"/>
              <a:t>bu</a:t>
            </a:r>
            <a:r>
              <a:rPr lang="en-US" sz="1600" dirty="0"/>
              <a:t> </a:t>
            </a:r>
            <a:r>
              <a:rPr lang="en-US" sz="1600" dirty="0" err="1"/>
              <a:t>bariyeri</a:t>
            </a:r>
            <a:r>
              <a:rPr lang="en-US" sz="1600" dirty="0"/>
              <a:t> </a:t>
            </a:r>
            <a:r>
              <a:rPr lang="en-US" sz="1600" dirty="0" err="1"/>
              <a:t>kaldırmada</a:t>
            </a:r>
            <a:r>
              <a:rPr lang="en-US" sz="1600" dirty="0"/>
              <a:t> </a:t>
            </a:r>
            <a:r>
              <a:rPr lang="en-US" sz="1600" dirty="0" err="1"/>
              <a:t>giderek</a:t>
            </a:r>
            <a:r>
              <a:rPr lang="en-US" sz="1600" dirty="0"/>
              <a:t> </a:t>
            </a:r>
            <a:r>
              <a:rPr lang="en-US" sz="1600" dirty="0" err="1"/>
              <a:t>kritikleşmektedir</a:t>
            </a:r>
            <a:r>
              <a:rPr lang="en-US" sz="1600" dirty="0"/>
              <a:t>.</a:t>
            </a:r>
            <a:endParaRPr lang="tr-TR" sz="1600" dirty="0"/>
          </a:p>
          <a:p>
            <a:pPr marL="228600" indent="-228600" algn="just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Dil Modelleri (BDM) umut verici olsa da doğru şemanın seçilmesi, gürültünün azaltılması ve yapısal akıl yürütme temel zorluklardır.</a:t>
            </a:r>
            <a:endParaRPr lang="en-US" sz="1450" dirty="0"/>
          </a:p>
          <a:p>
            <a:pPr marL="228600" indent="-228600" algn="just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gibi düşük kaynaklı diller için yapılan çalışmalar oldukça sınırlıdır; sorgular Türkçe, şemalar ise İngilizcedir.</a:t>
            </a:r>
            <a:endParaRPr lang="en-US" sz="1450" dirty="0"/>
          </a:p>
          <a:p>
            <a:pPr marL="228600" indent="-228600" algn="just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Amaç: </a:t>
            </a:r>
            <a:r>
              <a:rPr lang="en-US" sz="1600" dirty="0"/>
              <a:t>SQL </a:t>
            </a:r>
            <a:r>
              <a:rPr lang="en-US" sz="1600" dirty="0" err="1"/>
              <a:t>bilmeyen</a:t>
            </a:r>
            <a:r>
              <a:rPr lang="en-US" sz="1600" dirty="0"/>
              <a:t> </a:t>
            </a:r>
            <a:r>
              <a:rPr lang="en-US" sz="1600" dirty="0" err="1"/>
              <a:t>kullanıcıların</a:t>
            </a:r>
            <a:r>
              <a:rPr lang="en-US" sz="1600" dirty="0"/>
              <a:t> </a:t>
            </a:r>
            <a:r>
              <a:rPr lang="en-US" sz="1600" dirty="0" err="1"/>
              <a:t>doğal</a:t>
            </a:r>
            <a:r>
              <a:rPr lang="en-US" sz="1600" dirty="0"/>
              <a:t> </a:t>
            </a:r>
            <a:r>
              <a:rPr lang="en-US" sz="1600" dirty="0" err="1"/>
              <a:t>dilde</a:t>
            </a:r>
            <a:r>
              <a:rPr lang="en-US" sz="1600" dirty="0"/>
              <a:t> </a:t>
            </a:r>
            <a:r>
              <a:rPr lang="en-US" sz="1600" dirty="0" err="1"/>
              <a:t>yazdığı</a:t>
            </a:r>
            <a:r>
              <a:rPr lang="en-US" sz="1600" dirty="0"/>
              <a:t> </a:t>
            </a:r>
            <a:r>
              <a:rPr lang="en-US" sz="1600" dirty="0" err="1"/>
              <a:t>sorguyu</a:t>
            </a:r>
            <a:r>
              <a:rPr lang="en-US" sz="1600" dirty="0"/>
              <a:t> </a:t>
            </a:r>
            <a:r>
              <a:rPr lang="en-US" sz="1600" dirty="0" err="1"/>
              <a:t>yüksek</a:t>
            </a:r>
            <a:r>
              <a:rPr lang="en-US" sz="1600" dirty="0"/>
              <a:t> </a:t>
            </a:r>
            <a:r>
              <a:rPr lang="en-US" sz="1600" dirty="0" err="1"/>
              <a:t>doğrulukla</a:t>
            </a:r>
            <a:r>
              <a:rPr lang="en-US" sz="1600" dirty="0"/>
              <a:t> </a:t>
            </a:r>
            <a:r>
              <a:rPr lang="en-US" sz="1600" dirty="0" err="1"/>
              <a:t>SQL'e</a:t>
            </a:r>
            <a:r>
              <a:rPr lang="en-US" sz="1600" dirty="0"/>
              <a:t> </a:t>
            </a:r>
            <a:r>
              <a:rPr lang="en-US" sz="1600" dirty="0" err="1"/>
              <a:t>dönüştüren</a:t>
            </a:r>
            <a:r>
              <a:rPr lang="en-US" sz="1600" dirty="0"/>
              <a:t> </a:t>
            </a:r>
            <a:r>
              <a:rPr lang="en-US" sz="1600" dirty="0" err="1"/>
              <a:t>güvenilir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geliştirmek</a:t>
            </a:r>
            <a:r>
              <a:rPr lang="en-US" sz="1600" dirty="0"/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03720" y="1874520"/>
            <a:ext cx="223113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04888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495" y="218029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04888" y="2624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Gürültüsü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04888" y="28986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Sabit-k seçimi ilgisiz tabloları getirir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90888" y="1874520"/>
            <a:ext cx="223113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92056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663" y="218029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92056" y="2624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 Engeli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592056" y="28986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sorgu ↔ İngilizce şema uyumsuzluğu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03720" y="3630168"/>
            <a:ext cx="223113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04888" y="38313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495" y="3935943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04888" y="4379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 Yürütme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104888" y="465429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tablolu sorgularda yapısal tutarlılık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90888" y="3630168"/>
            <a:ext cx="223113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592056" y="38313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663" y="3935943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92056" y="4379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Halüsinasyon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592056" y="465429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BDM'ler hatalı/bağlam dışı SQL üretebilir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Text-to-SQL: Problem Tanımı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dilde ifade edilen bir sorgu, otomatik olarak yapılandırılmış SQL sorgusuna dönüştürülür, ilgili veri tabanında çalıştırılır ve sonuç kullanıcıya sunulur.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788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895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DİL SORGUSU (TR)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" y="35570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“Maaşı en yüksek personeli getir”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34256" y="3081528"/>
            <a:ext cx="548640" cy="365760"/>
          </a:xfrm>
          <a:prstGeom prst="rightArrow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01768" y="260604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12243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ogs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80720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32826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RAFT MİMARİSİ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01768" y="35204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erişimi + BDM ile üretim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66176" y="3081528"/>
            <a:ext cx="548640" cy="365760"/>
          </a:xfrm>
          <a:prstGeom prst="rightArrow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33688" y="2606040"/>
            <a:ext cx="2688336" cy="1325880"/>
          </a:xfrm>
          <a:prstGeom prst="roundRect">
            <a:avLst>
              <a:gd name="adj" fmla="val 6897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34856" y="2788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8895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34856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ÜRETİLEN SQL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134856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2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ad FROM personel</a:t>
            </a:r>
            <a:endParaRPr lang="en-US" sz="8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2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maas = (SELECT max(maas)</a:t>
            </a:r>
            <a:endParaRPr lang="en-US" sz="8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2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personel)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66928" y="4343400"/>
            <a:ext cx="536295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95528" y="46177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70" y="472836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5994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1 — RAG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1481328" y="494690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ayar gerektirmeyen, hiyerarşik kümeleme + veri zenginleştirme </a:t>
            </a:r>
            <a:endParaRPr lang="tr-TR" sz="1250" dirty="0">
              <a:solidFill>
                <a:srgbClr val="5C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hibrit sorgu ile güçlendirilmiş özgün RAG mimarisi.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259068" y="4343400"/>
            <a:ext cx="536295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487668" y="46177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4728362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73468" y="45994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2 — RAFT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7173468" y="494690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+ çeldirici şemalarla, Düşünce Zinciri (CoT) destekli ince ayar; </a:t>
            </a:r>
            <a:endParaRPr lang="tr-TR" sz="1250" dirty="0">
              <a:solidFill>
                <a:srgbClr val="5C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ile karşılaştırmalı değerlendirme.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Literatürdeki Boşluk ve Tezin Konumu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5C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LİTERATÜR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81928" y="144475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81928" y="14447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 ÇALIŞMASI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0832" y="201168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exclam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7685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44168" y="20116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Çalışmalar ağırlıkla İngilizce gibi gelişmiş veri altyapısına sahip dillere odaklanıyor</a:t>
            </a:r>
          </a:p>
        </p:txBody>
      </p:sp>
      <p:sp>
        <p:nvSpPr>
          <p:cNvPr id="11" name="Shape 8"/>
          <p:cNvSpPr/>
          <p:nvPr/>
        </p:nvSpPr>
        <p:spPr>
          <a:xfrm>
            <a:off x="6281928" y="201168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2768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9168" y="20116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doğal dil sorguları için kapsamlı, eğitim gerektirmeyen yaklaşım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090672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exclam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3558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09067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sayıda şema seçimi (fixed-k) gürültü ve bilgi kaybına yol açıyor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81928" y="3090672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35584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9168" y="309067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ile dinamik şema seçimi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exclam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43484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169664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Diller arası anlam eşleştirmesi yeterince ele alınmıyor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81928" y="4169664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43484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59168" y="4169664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sorgu (TR+EN) + çok dilli gömme modelleri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66928" y="5248656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6" descr="icons/exclam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513832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344168" y="524865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 RAFT, Türkçe özelinde karşılaştırılmamış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281928" y="5248656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5513832"/>
            <a:ext cx="384048" cy="38404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59168" y="524865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koşullarda ilk sistematik RAG↔RAFT karşılaştırması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Tezin Özgün Katkıları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305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2512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 Şema Seçimi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17296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algoritmasıyla, sabit-k yöntemlerinin ötesinde gürültüyü en aza indiren özgün yaklaşım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187452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35424" y="21305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125" y="225125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21424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35424" y="27889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Diller Arası Eşleştirme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35424" y="317296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sorgu stratejisi (TR+EN) ve çok dilli gömme modelleri ile dil engelinin aşılması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91856" y="187452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47888" y="213055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89" y="2251253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33888" y="2039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247888" y="27889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Zenginleştirme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247888" y="317296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tanımlarının örnek veri satırlarıyla zenginleştirilerek modelin veri içeriğini anlaması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510028" y="3959352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766060" y="421538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761" y="4336085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52060" y="41239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2766060" y="48737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Sistematik Karşılaştırma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2766060" y="52578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 RAFT yaklaşımlarının Türkçe Text-to-SQL bağlamında ilk kez karşılaştırılması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222492" y="3959352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478524" y="421538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225" y="4336085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64524" y="41239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D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6478524" y="48737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 Destekli Akıl Yürütme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6478524" y="52578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Düşünce Zinciri ile çok tablolu karmaşık sorgularda yapısal tutarlılık ve doğruluk artışı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Soruları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10972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48132"/>
            <a:ext cx="566928" cy="566928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481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18488" y="1710972"/>
            <a:ext cx="9774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kümeleme, sabit-k yöntemlerine kıyasla şema gürültüsünü azaltıp ilgili şemaları dinamik belirleyebilir mi?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680236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817396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173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18488" y="2680236"/>
            <a:ext cx="9774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(TR-EN) sorgu stratejisi, tek dilli sorgulamaya kıyasla anlam eşleştirme başarısını artırır mı?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649500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786660"/>
            <a:ext cx="566928" cy="566928"/>
          </a:xfrm>
          <a:prstGeom prst="ellipse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866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18488" y="3649500"/>
            <a:ext cx="9774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zenginleştirme ve yinelemeli öz-düzeltme, ince ayar yapılmadan yürütme doğruluğunu anlamlı ölçüde iyileştirir mi?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618764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4755924"/>
            <a:ext cx="566928" cy="566928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559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18488" y="4618764"/>
            <a:ext cx="9774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yöntemi, RAG yaklaşımına kıyasla daha yüksek doğruluk ve tutarlılık sağlar mı?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588028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72518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7251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8488" y="5588028"/>
            <a:ext cx="9774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stratejisi, özellikle çok tablolu karmaşık sorgularda </a:t>
            </a:r>
            <a:r>
              <a:rPr lang="en-US" sz="1400" dirty="0" err="1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performansı</a:t>
            </a: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anlamlı düzeyde artırır mı?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ARAŞTIRMASI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Literatür Özeti ve Sınıflandırma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" y="213055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05" y="2247229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İstem Mühendisliği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içi öğrenme, ayrıştırma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öz-tutarlılık</a:t>
            </a:r>
            <a:r>
              <a:rPr lang="tr-TR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0" y="213055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77" y="224722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İnce Ayar / Hibrit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Görev-özel eğitim ve RAG+ince ayar birleşimi (RAFT)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91072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19672" y="213055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349" y="2247229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Eşleştirme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19672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getirme ve gürültü filtreleme ile doğru tablo seçimi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53144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81744" y="213055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langu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421" y="2247229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Türkçe Çalışmalar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81744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TUR2SQL gibi sınırlı sayıda; çoğu eğitim gerektiriyor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66928" y="4434840"/>
            <a:ext cx="11055096" cy="1325880"/>
          </a:xfrm>
          <a:prstGeom prst="roundRect">
            <a:avLst>
              <a:gd name="adj" fmla="val 6897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icons/bullsey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84632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18488" y="4434840"/>
            <a:ext cx="9683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Tezin Konumlandırılması:  </a:t>
            </a:r>
            <a:r>
              <a:rPr lang="en-US" sz="14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Text-to-SQL alanında, dinamik şema seçimi ile diller arası eşleştirmeyi birleştiren ve RAG ↔ RAFT yaklaşımlarını aynı deneysel koşullarda karşılaştıran ilk kapsamlı çalışma.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365760"/>
            <a:ext cx="402336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3000" b="1" dirty="0">
                <a:solidFill>
                  <a:srgbClr val="1C3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BÖLÜM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816352"/>
            <a:ext cx="566928" cy="64008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Materyal ve Yöntem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kümesinin hazırlanması, gömme modeli ve vektör veri tabanı seçimi, RAG ve RAFT mimarileri, CoT süreci, kullanılan büyük dil modelleri ve performans metrikleri.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Çalışmanın Genel Akışı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7315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3.1. Çalışmada izlenen süreç ve iki aşamalı araştırma akışı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2440" y="1783080"/>
            <a:ext cx="3529584" cy="4434840"/>
          </a:xfrm>
          <a:prstGeom prst="roundRect">
            <a:avLst>
              <a:gd name="adj" fmla="val 2591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85048" y="2011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İKİ AŞAMALI ÇERÇEVE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85048" y="2468880"/>
            <a:ext cx="457200" cy="457200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8504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961120" y="24323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&amp; Spider veri kümeleri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0" y="274320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Türkçeye çeviri + manuel düzenleme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85048" y="3419856"/>
            <a:ext cx="457200" cy="457200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8504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961120" y="338328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 tabanı / 1</a:t>
            </a: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sorgu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0" y="369417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şema seçimi (ground truth)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85048" y="43708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85048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61120" y="433425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1 — RAG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961120" y="46451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şema seçimi + SQL üretimi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85048" y="5321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5048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961120" y="528523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2 — RAFT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61120" y="559612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destekli ince ayar + karşılaştırma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8881B19-D0E7-6B55-7765-FC26B7C5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" y="1783079"/>
            <a:ext cx="6682671" cy="44531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Kümesinin Hazırlanması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</a:t>
            </a: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ve Spider veri kümelerinden derlenen </a:t>
            </a:r>
            <a:r>
              <a:rPr lang="tr-TR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SQLite veri tabanı. Sorgular Türkçeye çevrilip manuel olarak düzenlenmiştir.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5786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38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2552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tr-TR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Tabanı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4688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25786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30168" y="32552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Sorgusu (RAG)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4688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25786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92240" y="32552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tr-TR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(RAFT)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53144" y="24688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36024" y="257860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38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</a:rPr>
              <a:t>159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354312" y="32552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tr-TR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</a:t>
            </a:r>
            <a:r>
              <a:rPr lang="tr-TR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Sayısı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9776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 Test Veri Setlerinin Dağılımı (örnek)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999283"/>
              </p:ext>
            </p:extLst>
          </p:nvPr>
        </p:nvGraphicFramePr>
        <p:xfrm>
          <a:off x="566928" y="4297680"/>
          <a:ext cx="9509760" cy="17556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Eğitim Veri Tabanı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Sorgu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Tablo</a:t>
                      </a:r>
                      <a:r>
                        <a:rPr lang="tr-TR" sz="1200" b="1" dirty="0">
                          <a:solidFill>
                            <a:srgbClr val="FFFFFF"/>
                          </a:solidFill>
                        </a:rPr>
                        <a:t> (69)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Veri Tabanı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Sorgu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Tablo</a:t>
                      </a:r>
                      <a:r>
                        <a:rPr lang="tr-TR" sz="1200" b="1" dirty="0">
                          <a:solidFill>
                            <a:srgbClr val="FFFFFF"/>
                          </a:solidFill>
                        </a:rPr>
                        <a:t> (90)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hr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124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college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170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world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120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soccer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106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restaurant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117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movie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98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store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106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chinook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84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7A"/>
                          </a:solidFill>
                        </a:rPr>
                        <a:t>… + diğerleri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5E8C"/>
                          </a:solidFill>
                        </a:rPr>
                        <a:t>880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7A"/>
                          </a:solidFill>
                        </a:rPr>
                        <a:t>… + diğerleri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</a:rPr>
                        <a:t>1.006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Mimarisi ve İş Akışı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0" y="1783080"/>
            <a:ext cx="5202936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kumeleme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00284"/>
            <a:ext cx="5202936" cy="3600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6236208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3.3. Kümeleme tabanlı RAG iş akışı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187452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" y="1987174"/>
            <a:ext cx="286756" cy="286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37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tabanından tüm şemalar alınır ve gömme vektörüne dönüştürülür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veri tabanında (ChromaDB) saklanır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2953512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" y="3066166"/>
            <a:ext cx="286756" cy="286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169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sorgu vektörleştirilir; benzerlik puanları hesaplanır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80160" y="3410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Anlamsal arama (semantic search)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66928" y="4032504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s/lay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582" y="4145158"/>
            <a:ext cx="286756" cy="2867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95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ile en yüksek puanlı şema kümesi seçilir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80160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şema seçimi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66928" y="511149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582" y="5224150"/>
            <a:ext cx="286756" cy="2867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şemalar BDM'ye bağlam olarak verilir; SQL üretilir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280160" y="5568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veri tabanında çalıştırılır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Hiyerarşik Kümeleme ile Dinamik Şema Seçimi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</a:t>
            </a: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sorgunun kaç şema ile ilişkili olduğu önceden bilinmez. Sabit-k seçimi ya gürültü ekler ya da bilgi kaybına yol açar.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</a:t>
            </a: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Sorgu-şema kosinüs benzerlik puanları üzerinde hiyerarşik kümeleme uygulanır; en alakalı şemalar tek bir kümede toplanır ve dinamik bir eşik belirlenir.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</a:t>
            </a:r>
            <a:r>
              <a:rPr lang="tr-TR" sz="11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ilçelerin en az iki adresi var?” — kosinüs puanları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329316"/>
              </p:ext>
            </p:extLst>
          </p:nvPr>
        </p:nvGraphicFramePr>
        <p:xfrm>
          <a:off x="566928" y="4361688"/>
          <a:ext cx="5212080" cy="1371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Şema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Kosinüs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Seçim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</a:rPr>
                        <a:t>address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</a:rPr>
                        <a:t>0,</a:t>
                      </a:r>
                      <a:r>
                        <a:rPr lang="tr-TR" sz="1150" b="1" dirty="0">
                          <a:solidFill>
                            <a:srgbClr val="2A9D8F"/>
                          </a:solidFill>
                        </a:rPr>
                        <a:t>26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store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0,</a:t>
                      </a:r>
                      <a:r>
                        <a:rPr lang="tr-TR" sz="1150" dirty="0">
                          <a:solidFill>
                            <a:srgbClr val="1A2A40"/>
                          </a:solidFill>
                        </a:rPr>
                        <a:t>14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5C6B7A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/>
                        <a:t>customer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r-TR" sz="1150" dirty="0"/>
                        <a:t>0,12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5C6B7A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1A2A40"/>
                          </a:solidFill>
                        </a:rPr>
                        <a:t>staff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0,</a:t>
                      </a:r>
                      <a:r>
                        <a:rPr lang="tr-TR" sz="1150" dirty="0">
                          <a:solidFill>
                            <a:srgbClr val="1A2A40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828800"/>
            <a:ext cx="515721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fig/kumeleme_son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38971"/>
            <a:ext cx="5157216" cy="40773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6144768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4.1. Kümeleme sonuçları — ilgili şemaların izolasyonu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Zenginleştirme: Standart vs. Zenginleştirilmiş RAG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tanımına örnek veri satırları eklenerek modele açık veri içeriği bağlamı sunulur; böylece model değer–sütun ilişkilerini veriden öğrenir.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344668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670048"/>
            <a:ext cx="4796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RAG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980944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yapısal bilgi — veri içeriği yok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3337560"/>
            <a:ext cx="4796028" cy="2194560"/>
          </a:xfrm>
          <a:prstGeom prst="roundRect">
            <a:avLst>
              <a:gd name="adj" fmla="val 2500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520440"/>
            <a:ext cx="44302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Students 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Student_ID, Name,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Department, GPA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2468880"/>
            <a:ext cx="5344668" cy="3291840"/>
          </a:xfrm>
          <a:prstGeom prst="roundRect">
            <a:avLst>
              <a:gd name="adj" fmla="val 2778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1676" y="2670048"/>
            <a:ext cx="4796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ZENGİNLEŞTİRİLMİŞ RAG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1676" y="2980944"/>
            <a:ext cx="4796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bilgi + örnek veri satırları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51676" y="3337560"/>
            <a:ext cx="4796028" cy="2194560"/>
          </a:xfrm>
          <a:prstGeom prst="roundRect">
            <a:avLst>
              <a:gd name="adj" fmla="val 2500"/>
            </a:avLst>
          </a:prstGeom>
          <a:solidFill>
            <a:srgbClr val="12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34556" y="3520440"/>
            <a:ext cx="44302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Students (Student_ID, Name, Department, GPA)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Rows: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101, "Ahmet Yılmaz", "Bilgisayar Müh.", 3.5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102, "Ayşe Demir", "Endüstri Müh.", 3.8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103, "Mehmet Can", "Mimarlık", 2.9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897880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12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589788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  </a:t>
            </a:r>
            <a:r>
              <a:rPr lang="en-US" sz="13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zenginleştirme tek başına ortalama F1 puanını 0,740 → 0,798 seviyesine yükseltmiştir.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Sorgu Stratejisi (Türkçe + İngilizce)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sorgu, arka planda makine çevirisiyle İngilizceye çevrilir; iki dilin vektör temsilleri birleştirilerek anlamsal arama yapılır. Böylece İngilizce şemalar ile Türkçe sorgular arasındaki dil bariyeri aşılır.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DİLLİ SORGU (TR)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315468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Köprülerin ortalama uzunluğu feet cinsinden nedir?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931920"/>
            <a:ext cx="11055096" cy="1234440"/>
          </a:xfrm>
          <a:prstGeom prst="roundRect">
            <a:avLst>
              <a:gd name="adj" fmla="val 7407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4078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HİBRİT SORGU (TR + EN)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38912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TR: </a:t>
            </a:r>
            <a:r>
              <a:rPr lang="en-US" sz="1350" i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Köprülerin ortalama uzunluğu feet cinsinden nedir?   </a:t>
            </a:r>
            <a:r>
              <a:rPr lang="en-US" sz="1350" b="1" i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EN: </a:t>
            </a:r>
            <a:r>
              <a:rPr lang="en-US" sz="1350" i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length in feet of the bridges?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5715000"/>
            <a:ext cx="11055096" cy="640080"/>
          </a:xfrm>
          <a:prstGeom prst="roundRect">
            <a:avLst>
              <a:gd name="adj" fmla="val 11429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char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87959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89888" y="5715000"/>
            <a:ext cx="9957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  </a:t>
            </a:r>
            <a:r>
              <a:rPr lang="en-US" sz="13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sorgu modu, ortalama F1 puanını 0,79 → 0,81 seviyesine yükselterek diller arası anlamsal boşluk için kritik bir güvenlik ağı sağlamıştır.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Gömme Modelleri ve Vektör Veri Tabanı Seçimi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1031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langu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2137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121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Edilen Gömme Modelleri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86968" y="284378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33856" y="2734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voyage-3-large 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Voyage AI — en yüksek Türkçe F1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86968" y="3447288"/>
            <a:ext cx="146304" cy="146304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33856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OpenAI — güçlü genel başarım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6968" y="4050792"/>
            <a:ext cx="146304" cy="146304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33856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embed-multilingual-v3.0 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Cohere — çok dilli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86968" y="4654296"/>
            <a:ext cx="146304" cy="146304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33856" y="4544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ytu-ce-cosmos turkish-e5-large 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YTÜ Cosmos — Türkçe için ince ayarlı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6968" y="5257800"/>
            <a:ext cx="146304" cy="146304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33856" y="5148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Qwen3-Embedding-8B  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Qwen — yeni nesil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19088" y="1874520"/>
            <a:ext cx="5202936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693408" y="21031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050" y="2213762"/>
            <a:ext cx="281635" cy="281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33488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Vektör Veri Tabanları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693408" y="2834640"/>
            <a:ext cx="4654296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876288" y="304495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315468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516368" y="29809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516368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odaklı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693408" y="3858768"/>
            <a:ext cx="4654296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876288" y="4069080"/>
            <a:ext cx="457200" cy="457200"/>
          </a:xfrm>
          <a:prstGeom prst="ellipse">
            <a:avLst/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417880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16368" y="4005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516368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yönetilen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</a:t>
            </a: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SaaS)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693408" y="4882896"/>
            <a:ext cx="4654296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876288" y="5093208"/>
            <a:ext cx="457200" cy="457200"/>
          </a:xfrm>
          <a:prstGeom prst="ellipse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5202936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16368" y="5029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7516368" y="5340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b-NO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kaynak, self-host, güçlü filtreleme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(Retrieval-Augmented Fine-Tuning) Yöntemi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raft_ki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792" y="1892808"/>
            <a:ext cx="8903368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584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3.6. RAFT'ın klasik yöntemlerle karşılaştırılması (Zhang vd., 2024'ten uyarlanmıştır)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95528" y="42062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5C6B7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" y="431688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5528" y="4846320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Kapalı Kitap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95528" y="5212080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yalnızca iç bilgisine güvenir; dış belge yok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397764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65904" y="42062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46" y="431688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5904" y="4846320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Kitap (RAG)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65904" y="5212080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anında dış belgeler getirilir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07680" y="397764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336280" y="42062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922" y="431688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6280" y="4846320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(Önerilen)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336280" y="5212080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Eğitimde doğru + çeldirici şemalarla öğretilir; ilgisiz bilgi ayırt edilir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Düşünce Zinciri (CoT) ve Veri Seti Formatı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veri seti; her örnekte doğru (Golden) ve çeldirici (Distractor) şemalarla birlikte, adım adım akıl yürütme (CoT) içeren yanıtlardan oluşur. 880 örnek bu formatta hazırlanmıştır.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615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496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(TR / EN)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770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sorgusu, çift dilli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" y="2990088"/>
            <a:ext cx="0" cy="384048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33832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4838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364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88720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+ Distractor şemalar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" y="3858768"/>
            <a:ext cx="0" cy="384048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66928" y="42519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525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233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Reasoning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88720" y="4507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akıl yürütme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95528" y="4727448"/>
            <a:ext cx="0" cy="384048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66928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2212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5102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88720" y="5376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Nihai SQL sorgusu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504688" y="2377440"/>
            <a:ext cx="6117336" cy="3840480"/>
          </a:xfrm>
          <a:prstGeom prst="roundRect">
            <a:avLst>
              <a:gd name="adj" fmla="val 1905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824728" y="2542032"/>
            <a:ext cx="5568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EĞİTİM ÖRNEĞİ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824728" y="2852928"/>
            <a:ext cx="54772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E0A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(TR): </a:t>
            </a:r>
            <a:r>
              <a:rPr lang="en-US" sz="115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İngilizce dilini kullanan kaç TV kanalı var?
</a:t>
            </a:r>
            <a:r>
              <a:rPr lang="en-US" sz="1150" b="1" dirty="0">
                <a:solidFill>
                  <a:srgbClr val="6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</a:t>
            </a:r>
            <a:r>
              <a:rPr lang="en-US" sz="1150" dirty="0">
                <a:solidFill>
                  <a:srgbClr val="AEB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[Golden] TV_Channel  +  [Distractor] TV_series, Cartoon
</a:t>
            </a:r>
            <a:r>
              <a:rPr lang="en-US" sz="1150" b="1" dirty="0">
                <a:solidFill>
                  <a:srgbClr val="6FD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Reasoning: </a:t>
            </a:r>
            <a:r>
              <a:rPr lang="en-US" sz="1150" dirty="0">
                <a:solidFill>
                  <a:srgbClr val="D7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Language='English' kayıtlarını filtrele  2) TV_Channel tablosunu seç  3) COUNT(*) ile say
</a:t>
            </a:r>
            <a:r>
              <a:rPr lang="en-US" sz="1150" b="1" dirty="0">
                <a:solidFill>
                  <a:srgbClr val="E0A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</a:t>
            </a:r>
            <a:r>
              <a:rPr lang="en-US" sz="1150" dirty="0">
                <a:solidFill>
                  <a:srgbClr val="BFF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TV_Channel WHERE LANGUAGE = "English";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Kullanılan Büyük Dil Modelleri ve İnce Ayar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1B5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Ticari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351434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fig/loss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49784"/>
            <a:ext cx="3331464" cy="2127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7304" y="182880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65904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Gemini-1.5-pro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65904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Ticari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7304" y="2542032"/>
            <a:ext cx="351434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fig/loss_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744" y="3099986"/>
            <a:ext cx="3331464" cy="16272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07680" y="182880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36280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Qwen2.5-14B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336280" y="182880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· 4-bit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07680" y="2542032"/>
            <a:ext cx="351434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fig/loss_qw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120" y="2925725"/>
            <a:ext cx="3331464" cy="19758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6928" y="53492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3.7–3.9. Modellerin ince ayar sürecinde kayıp (loss) ve doğruluk eğrileri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66928" y="57607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model de aynı RAFT veri seti üzerinde, CoT destekli örneklerle ince ayar edilmiştir. Eğitim kayıpları kararlı biçimde azalırken doğruluk artmıştır.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 Metrikleri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4668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1031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B5E8C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03120"/>
            <a:ext cx="4155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Erişim Metrikleri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2926080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69848" y="3035808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 (Precision)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9848" y="3364992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Getirilen şemaların doğruluk oranı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1248" y="3950208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69848" y="4059936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 (Recall)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9848" y="4389120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şemaların yakalanma oranı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4974336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69848" y="5084064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Skoru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69848" y="5413248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 ve duyarlılığın harmonik ortalaması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77356" y="1874520"/>
            <a:ext cx="5344668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51676" y="21031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377" y="222382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37476" y="2103120"/>
            <a:ext cx="4155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Üretim Metrikleri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551676" y="2926080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80276" y="3035808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 Doğruluğu (EX)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80276" y="3364992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SQL'in doğru sonucu vermesi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51676" y="3950208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780276" y="4059936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Benzerliği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0276" y="4389120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ile üretilen tablo örtüşmesi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551676" y="4974336"/>
            <a:ext cx="4796028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780276" y="5084064"/>
            <a:ext cx="4430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Benzerliği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780276" y="5413248"/>
            <a:ext cx="4430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Sözdizimsel/yapısal benzerlik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365760"/>
            <a:ext cx="402336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3000" b="1" dirty="0">
                <a:solidFill>
                  <a:srgbClr val="1C3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BÖLÜM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816352"/>
            <a:ext cx="566928" cy="64008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Bulgular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ve şema erişim analizi, RAG iyileştirme stratejilerinin etkisi, RAG ↔ RAFT karşılaştırması, istatistiksel doğrulama, hata analizi ve CoT ablasyon çalışması.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Düzey Şema Erişim </a:t>
            </a:r>
            <a:r>
              <a:rPr lang="en-US" sz="2700" b="1" dirty="0" err="1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(önceki) gömme modelleriyle elde edilen şema erişim sonuçları. En iyi F1 puanı 0,79'da kalmıştır — bu, iyileştirme stratejileri için temel düzeyi (baseline) oluşturur.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49727"/>
              </p:ext>
            </p:extLst>
          </p:nvPr>
        </p:nvGraphicFramePr>
        <p:xfrm>
          <a:off x="566928" y="2423160"/>
          <a:ext cx="7498080" cy="268833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Gömme Modeli + Vektör Veri Tabanı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Kesinlik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Duyarlılık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OpenAI text-embedding-3-large + ChromaDB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0,79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OpenAI text-embedding-3-large + Pinecone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0,90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Cohere embed-multilingual-v3.0 + ChromaDB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Cohere embed-multilingual-v3.0 + Pinecone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0,91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HuggingFace paraphrase-xlm-r + ChromaDB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0,56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0,63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HuggingFace paraphrase-xlm-r + Pinecone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2423160"/>
            <a:ext cx="3300984" cy="3246120"/>
          </a:xfrm>
          <a:prstGeom prst="roundRect">
            <a:avLst>
              <a:gd name="adj" fmla="val 2817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char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2" y="26974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324612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0,79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8321040" y="41605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temel F1 puanı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95360" y="457200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tutarlı biçimde en yüksek kesinliği sağladı; ancak Türkçe sorgu–İngilizce şema boşluğu başarıyı sınırladı.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Düzey BDM </a:t>
            </a:r>
            <a:r>
              <a:rPr lang="en-US" sz="2700" b="1" dirty="0" err="1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Performansı (RAG)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Çizelge 4.4. Temel düzey RAG yapılandırmasında (ince ayar uygulanmadan) üç BDM'nin SQL üretim performansı. Her model için en iyi gömme + vektör veri tabanı kombinasyonu gösterilmektedir.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644590"/>
              </p:ext>
            </p:extLst>
          </p:nvPr>
        </p:nvGraphicFramePr>
        <p:xfrm>
          <a:off x="566928" y="2423160"/>
          <a:ext cx="7498080" cy="153619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BDM · En İyi Kombinasyon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 Skor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Tablo Benz.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SQL Benz.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Gemini-1.5-pro · OpenAI</a:t>
                      </a:r>
                      <a:r>
                        <a:rPr lang="tr-TR" sz="1200" dirty="0">
                          <a:solidFill>
                            <a:srgbClr val="1A2A40"/>
                          </a:solidFill>
                        </a:rPr>
                        <a:t>-Gömme</a:t>
                      </a: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 + Qdrant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</a:rPr>
                        <a:t>0,80</a:t>
                      </a:r>
                      <a:endParaRPr lang="en-US" sz="1200" b="1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0,90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0,88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GPT-4o · OpenAI</a:t>
                      </a:r>
                      <a:r>
                        <a:rPr lang="tr-TR" sz="1200" dirty="0">
                          <a:solidFill>
                            <a:srgbClr val="1A2A40"/>
                          </a:solidFill>
                        </a:rPr>
                        <a:t>-Gömme</a:t>
                      </a: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 + Pinecone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</a:t>
                      </a:r>
                      <a:r>
                        <a:rPr lang="tr-TR" sz="1200" dirty="0">
                          <a:solidFill>
                            <a:srgbClr val="1A2A4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Qwen-1.5-110B · OpenAI</a:t>
                      </a:r>
                      <a:r>
                        <a:rPr lang="tr-TR" sz="1200" dirty="0">
                          <a:solidFill>
                            <a:srgbClr val="1A2A40"/>
                          </a:solidFill>
                        </a:rPr>
                        <a:t>-Gömme</a:t>
                      </a: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 + ChromaDB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0,81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</a:rPr>
                        <a:t>0,73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2423160"/>
            <a:ext cx="3300984" cy="3246120"/>
          </a:xfrm>
          <a:prstGeom prst="roundRect">
            <a:avLst>
              <a:gd name="adj" fmla="val 2817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chart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212" y="26974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324612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8321040" y="41605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temel EX (Gemini-1.5-pro)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95360" y="457200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gömme modeli üç BDM'de de en iyi sonucu verdi. İnce ayar olmadan Gemini-1.5-pro açık ara öne çıktı; bu skorlar RAFT iyileştirmesi için temel düzeyi oluşturur.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Gelişmiş Gömme Modelleri ile Sıçrama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7360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gelismis_e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70" y="1828800"/>
            <a:ext cx="5375637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14476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4.6. Gelişmiş gömme modellerinin kesinlik, duyarlılık ve F1 karşılaştırması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83880" y="1828800"/>
            <a:ext cx="3438144" cy="4160520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83880" y="2103120"/>
            <a:ext cx="3438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183880" y="297180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Skoru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3273552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voyage-3-large ile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83880" y="361188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0,79 → 0,88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49640" y="4069080"/>
            <a:ext cx="2706624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8200" y="4206240"/>
            <a:ext cx="2889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voyage-3-large</a:t>
            </a: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OpenAI modelleri en yüksek F1 puanlarını verdi.
</a:t>
            </a:r>
            <a:r>
              <a:rPr lang="en-US" sz="1250" b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YTÜ Cosmos</a:t>
            </a: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Türkçe sorgularda rekabetçi bir performans sergiledi.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Ablasyon: Bileşenlerin Kümülatif Katkısı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bileşenin </a:t>
            </a:r>
            <a:r>
              <a:rPr lang="en-US" sz="13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F1 </a:t>
            </a: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puanına katkısı izole edilerek ölçülmüştür. Bileşenler birikimli olarak eklendiğinde başarı kademeli biçimde artmaktadır.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73442073"/>
              </p:ext>
            </p:extLst>
          </p:nvPr>
        </p:nvGraphicFramePr>
        <p:xfrm>
          <a:off x="566928" y="2423160"/>
          <a:ext cx="69494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514600"/>
            <a:ext cx="380390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46720" y="2660904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+0,058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065008" y="31546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Zenginleştirme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18120" y="3685032"/>
            <a:ext cx="3803904" cy="1024128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0" y="3831336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+0,012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065008" y="43251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Sorgu (TR+EN)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4855464"/>
            <a:ext cx="380390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0" y="5001768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</a:t>
            </a:r>
            <a:r>
              <a:rPr lang="tr-TR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065008" y="549554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Gömme Modeli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Zenginleştirilmiş RAG ve GPT-4o </a:t>
            </a:r>
            <a:r>
              <a:rPr lang="en-US" sz="2700" b="1" dirty="0" err="1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std_vs_z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72" y="1874520"/>
            <a:ext cx="5403273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120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4.3. Standart RAG vs. Zenginleştirilmiş RAG (GPT-4o)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544068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0,70 → 0,78   </a:t>
            </a:r>
            <a:r>
              <a:rPr lang="en-US" sz="13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ayar gerektirmeden ~%11 iyileşme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6520" y="1874520"/>
            <a:ext cx="5157216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fig/db_bas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0033"/>
            <a:ext cx="5157216" cy="32065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55778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4.2. Veri tabanlarına göre başarı oranları ve sıcaklık etkisi (GPT-4o)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Sayısı ve Karmaşıklığın Etkisi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ex_sema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56694"/>
            <a:ext cx="6766560" cy="4041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533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4.7. Şema sayısına göre EX puanı: Standart vs. Zenginleştirilmiş RAG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98080" y="2011680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Gözlem</a:t>
            </a:r>
            <a:endParaRPr lang="en-US" sz="1800" dirty="0"/>
          </a:p>
        </p:txBody>
      </p:sp>
      <p:pic>
        <p:nvPicPr>
          <p:cNvPr id="8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532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6992" y="247802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arttıkça düşüş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936992" y="2807208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sayısı 1'den 4'e çıktıkça tüm yöntemlerde başarı azalır</a:t>
            </a:r>
            <a:endParaRPr lang="en-US" sz="1150" dirty="0"/>
          </a:p>
        </p:txBody>
      </p:sp>
      <p:pic>
        <p:nvPicPr>
          <p:cNvPr id="11" name="Image 2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58444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6992" y="352958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Zenginleştirme dayanıklı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936992" y="3858768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Zenginleştirilmiş RAG her karmaşıklık düzeyinde üstünlüğünü korur</a:t>
            </a:r>
            <a:endParaRPr lang="en-US" sz="1150" dirty="0"/>
          </a:p>
        </p:txBody>
      </p:sp>
      <p:pic>
        <p:nvPicPr>
          <p:cNvPr id="14" name="Image 3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63600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6992" y="458114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fark çoklu şemada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936992" y="4910328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şemalı sorgularda fark 0,27 → 0,46'ya kadar açılır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ile İnce Ayarlanan Modellerin Genel Başarımı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2011680"/>
          <a:ext cx="70408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2194560"/>
            <a:ext cx="3895344" cy="11430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3042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%84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418320" y="23774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Gemini-1.5-pro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8320" y="27614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EX skoru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493008"/>
            <a:ext cx="389534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36027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418320" y="367588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418320" y="40599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ve yüksek başarı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4791456"/>
            <a:ext cx="389534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55280" y="490118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%74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418320" y="49743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Qwen2.5-14B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418320" y="535838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Rekabetçi açık kaynak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E6CD9-D407-3C56-E487-6542B897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BD3E78-C977-AC7D-1846-C09D3BA18E97}"/>
              </a:ext>
            </a:extLst>
          </p:cNvPr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8EB7E1-78CD-BABD-FF2B-697D4C5E1CD3}"/>
              </a:ext>
            </a:extLst>
          </p:cNvPr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RAFT:</a:t>
            </a:r>
            <a:r>
              <a:rPr lang="tr-TR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Karmaşıklığına Bağlı EX Skor Analiz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701B80C-2C38-CBEF-471C-C752C370340D}"/>
              </a:ext>
            </a:extLst>
          </p:cNvPr>
          <p:cNvSpPr/>
          <p:nvPr/>
        </p:nvSpPr>
        <p:spPr>
          <a:xfrm>
            <a:off x="566928" y="192024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33393B-34E0-5938-E994-BD38C618174B}"/>
              </a:ext>
            </a:extLst>
          </p:cNvPr>
          <p:cNvSpPr/>
          <p:nvPr/>
        </p:nvSpPr>
        <p:spPr>
          <a:xfrm>
            <a:off x="566928" y="6053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4.9. RAFT yöntemiyle ince ayar edilen modellerin şema sayılarına göre EX puanları karşılaştırması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AF3DDDE-827C-9344-DE96-CC95470A0842}"/>
              </a:ext>
            </a:extLst>
          </p:cNvPr>
          <p:cNvSpPr/>
          <p:nvPr/>
        </p:nvSpPr>
        <p:spPr>
          <a:xfrm>
            <a:off x="7680960" y="2011680"/>
            <a:ext cx="3941064" cy="4023360"/>
          </a:xfrm>
          <a:prstGeom prst="roundRect">
            <a:avLst>
              <a:gd name="adj" fmla="val 2326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DF1E200-713C-C9F1-38A6-8243D24E8F10}"/>
              </a:ext>
            </a:extLst>
          </p:cNvPr>
          <p:cNvSpPr/>
          <p:nvPr/>
        </p:nvSpPr>
        <p:spPr>
          <a:xfrm>
            <a:off x="7955280" y="22402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GPT-4o: Performans Kararlılığı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E33B94-502F-C9EF-7122-D5EBAD348222}"/>
              </a:ext>
            </a:extLst>
          </p:cNvPr>
          <p:cNvSpPr/>
          <p:nvPr/>
        </p:nvSpPr>
        <p:spPr>
          <a:xfrm>
            <a:off x="7887629" y="2926080"/>
            <a:ext cx="3551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chemeClr val="bg1"/>
                </a:solidFill>
              </a:rPr>
              <a:t>GPT-4o Direnci: </a:t>
            </a:r>
            <a:r>
              <a:rPr lang="tr-TR" sz="1200" dirty="0">
                <a:solidFill>
                  <a:schemeClr val="bg1"/>
                </a:solidFill>
              </a:rPr>
              <a:t>Tablo sayısı (şema karmaşıklığı) 4'e çıktığında bile GPT-4o skorunu 0,73 seviyesinde koruyarak en yüksek dayanıklılığı göstermiştir.</a:t>
            </a:r>
          </a:p>
          <a:p>
            <a:pPr marL="0" indent="0"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400B7BD-F510-063A-0421-744951C29A13}"/>
              </a:ext>
            </a:extLst>
          </p:cNvPr>
          <p:cNvSpPr/>
          <p:nvPr/>
        </p:nvSpPr>
        <p:spPr>
          <a:xfrm>
            <a:off x="7955280" y="5486400"/>
            <a:ext cx="3392424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F57916-91F7-F5C0-7404-5E2C6891556F}"/>
              </a:ext>
            </a:extLst>
          </p:cNvPr>
          <p:cNvSpPr/>
          <p:nvPr/>
        </p:nvSpPr>
        <p:spPr>
          <a:xfrm>
            <a:off x="7955280" y="5504616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tr-TR" sz="1200" dirty="0">
                <a:solidFill>
                  <a:schemeClr val="bg1"/>
                </a:solidFill>
              </a:rPr>
              <a:t>Sonuç: Çoktu tablo içeren görevlerde gpt-4o modeli text-to-sql görevleri için daha başarılıdr.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EA7B9D0-1CFB-C9A4-BF43-88C3FA9BF5EE}"/>
              </a:ext>
            </a:extLst>
          </p:cNvPr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7C9F404-78E7-2CC8-9D0D-78E331D21D86}"/>
              </a:ext>
            </a:extLst>
          </p:cNvPr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216B04E-C4FA-BF68-F3DF-B9381E0E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41" y="1981944"/>
            <a:ext cx="6893905" cy="4009640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90FB7983-B6C7-47BA-9959-79C3F0E52586}"/>
              </a:ext>
            </a:extLst>
          </p:cNvPr>
          <p:cNvSpPr/>
          <p:nvPr/>
        </p:nvSpPr>
        <p:spPr>
          <a:xfrm>
            <a:off x="7875734" y="3694176"/>
            <a:ext cx="3551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chemeClr val="bg1"/>
                </a:solidFill>
              </a:rPr>
              <a:t>Gemini'nin Düşüşü</a:t>
            </a:r>
            <a:r>
              <a:rPr lang="tr-TR" sz="1200" dirty="0">
                <a:solidFill>
                  <a:schemeClr val="bg1"/>
                </a:solidFill>
              </a:rPr>
              <a:t>: Basit yapılarda (1 tablo) 0,90 ile zirvede olan Gemini 1.5 Pro, karmaşıklık arttıkça en keskin performans kaybını (0,64) yaşamıştır.</a:t>
            </a:r>
          </a:p>
          <a:p>
            <a:pPr marL="0" indent="0"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3E7C1DF4-9487-D552-206C-5B00012D16FA}"/>
              </a:ext>
            </a:extLst>
          </p:cNvPr>
          <p:cNvSpPr/>
          <p:nvPr/>
        </p:nvSpPr>
        <p:spPr>
          <a:xfrm>
            <a:off x="7887629" y="4498848"/>
            <a:ext cx="3551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chemeClr val="bg1"/>
                </a:solidFill>
              </a:rPr>
              <a:t>Qwen (Açık Kaynak): </a:t>
            </a:r>
            <a:r>
              <a:rPr lang="tr-TR" sz="1200" dirty="0">
                <a:solidFill>
                  <a:schemeClr val="bg1"/>
                </a:solidFill>
              </a:rPr>
              <a:t>Qwen 2.5 14B, 2 tablolu yapılarda dibi (0,56) görmüş, 4 tabloya gelindiğinde ancak 0,64 bandına toparlanabilmiştir.</a:t>
            </a:r>
          </a:p>
          <a:p>
            <a:pPr marL="0" indent="0"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482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ve RAG Yaklaşımlarının Karşılaştırması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132" y="1920240"/>
            <a:ext cx="6920687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133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4.8. RAFT ve RAG yaklaşımlarının radar bazlı değerlendirmesi (her üç model)</a:t>
            </a:r>
            <a:endParaRPr lang="en-US" sz="10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526280"/>
          <a:ext cx="11064240" cy="153619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 (RAG)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 (RAFT)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Artış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Toplam Hata Düşüşü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2A40"/>
                          </a:solidFill>
                        </a:rPr>
                        <a:t>GPT-4o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40"/>
                          </a:solidFill>
                        </a:rPr>
                        <a:t>0,73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0,83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▲ +0,10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5E8C"/>
                          </a:solidFill>
                        </a:rPr>
                        <a:t>~%32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2A40"/>
                          </a:solidFill>
                        </a:rPr>
                        <a:t>Gemini-1.5-pro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40"/>
                          </a:solidFill>
                        </a:rPr>
                        <a:t>0,81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0,84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▲ +0,03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5E8C"/>
                          </a:solidFill>
                        </a:rPr>
                        <a:t>~%12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2A40"/>
                          </a:solidFill>
                        </a:rPr>
                        <a:t>Qwen2.5-14B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A40"/>
                          </a:solidFill>
                        </a:rPr>
                        <a:t>0,69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0,74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</a:rPr>
                        <a:t>▲ +0,05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B5E8C"/>
                          </a:solidFill>
                        </a:rPr>
                        <a:t>~%23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59893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RAFT, tüm modellerde RAG'a üstünlük sağlamıştır; en belirgin kazanım GPT-4o modelinde gözlenmiştir.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Sayısına Göre RAFT ve RAG Başarımı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/gpt_raft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55353"/>
            <a:ext cx="6949440" cy="4044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53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4.10. GPT-4o için şema sayısına göre RAFT ve RAG EX puanları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80960" y="2011680"/>
            <a:ext cx="3941064" cy="4023360"/>
          </a:xfrm>
          <a:prstGeom prst="roundRect">
            <a:avLst>
              <a:gd name="adj" fmla="val 2326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RAFT'ın Dayanıklılığı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955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Şema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0" y="2926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  </a:t>
            </a: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Şema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0" y="35661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0,58  </a:t>
            </a: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Şema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0" y="42062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  </a:t>
            </a: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Şema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0" y="484632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  </a:t>
            </a: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5486400"/>
            <a:ext cx="3392424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955280" y="562356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karmaşıklıkla hızla düşerken (0,27), RAFT yüksek başarımı korur (0,73).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İstatistiksel Doğrulama (%95 Güven Aralığı)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yöntemiyle hesaplanan %95 güven aralıkları, RAFT ile elde edilen iyileşmelerin istatistiksel olarak anlamlı olduğunu doğrulamaktadır.</a:t>
            </a:r>
            <a:endParaRPr lang="en-US" sz="13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11693"/>
              </p:ext>
            </p:extLst>
          </p:nvPr>
        </p:nvGraphicFramePr>
        <p:xfrm>
          <a:off x="566928" y="2423160"/>
          <a:ext cx="11073384" cy="3520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Yöntem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 (%)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%95 Güven Aralığı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tr-TR" sz="1300" b="1" dirty="0">
                        <a:solidFill>
                          <a:srgbClr val="12243F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Gemini-1.5-pro</a:t>
                      </a:r>
                    </a:p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</a:rPr>
                        <a:t>RAFT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0,8397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[0,7900 ; 0,8888]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6B7A"/>
                          </a:solidFill>
                        </a:rPr>
                        <a:t>RAG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0,8081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[0,7675 ; 0,8487]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GPT-4o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</a:rPr>
                        <a:t>RAFT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0,8335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[0,7704 ; 0,8880]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6B7A"/>
                          </a:solidFill>
                        </a:rPr>
                        <a:t>RAG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0,7262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[0,6743 ; 0,7767]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Qwen2.5-14B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</a:rPr>
                        <a:t>RAFT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243F"/>
                          </a:solidFill>
                        </a:rPr>
                        <a:t>0,7409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[0,6766 ; 0,8103]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C6B7A"/>
                          </a:solidFill>
                        </a:rPr>
                        <a:t>RAG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0,6899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</a:rPr>
                        <a:t>[0,6285 ; 0,7514]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Hata Analizi: RAFT vs. RAG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20116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505254" y="196596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Türlerinin Dağılımı (en sık)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86535"/>
              </p:ext>
            </p:extLst>
          </p:nvPr>
        </p:nvGraphicFramePr>
        <p:xfrm>
          <a:off x="6505254" y="2331720"/>
          <a:ext cx="5586984" cy="29443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Hata Türü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RAFT*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RAG*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Yanlış / Eksik JOIN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A4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94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Halüsinasyon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81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135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Yanlış Tablo Seçimi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A40"/>
                          </a:solidFill>
                        </a:rPr>
                        <a:t>61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82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Yanlış Kolon Seçimi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A40"/>
                          </a:solidFill>
                        </a:rPr>
                        <a:t>48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94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Eksik WHERE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23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A4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43F"/>
                          </a:solidFill>
                        </a:rPr>
                        <a:t>TOPLAM (GPT-4o)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6"/>
                          </a:solidFill>
                        </a:rPr>
                        <a:t>278</a:t>
                      </a:r>
                      <a:endParaRPr lang="en-US" sz="115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6"/>
                          </a:solidFill>
                        </a:rPr>
                        <a:t>410</a:t>
                      </a:r>
                      <a:endParaRPr lang="en-US" sz="115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20840" y="5669280"/>
            <a:ext cx="4901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GPT-4o örneği. RAFT, JOIN, tablo ve kolon seçim hatalarını belirgin biçimde azaltır.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· ARAŞTIRMA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 Ablasyon: En Çarpıcı Bulgu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CoT'nin etkisi sorgu karmaşıklığıyla doğru orantılı olarak artar. Dört tablolu en zor sorgularda RAFT (CoT), Oracle (ideal üst sınır) performansını birebir yakalar.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07906705"/>
              </p:ext>
            </p:extLst>
          </p:nvPr>
        </p:nvGraphicFramePr>
        <p:xfrm>
          <a:off x="566928" y="2423160"/>
          <a:ext cx="6035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045439"/>
              </p:ext>
            </p:extLst>
          </p:nvPr>
        </p:nvGraphicFramePr>
        <p:xfrm>
          <a:off x="6596693" y="2468880"/>
          <a:ext cx="5506097" cy="2743200"/>
        </p:xfrm>
        <a:graphic>
          <a:graphicData uri="http://schemas.openxmlformats.org/drawingml/2006/table">
            <a:tbl>
              <a:tblPr/>
              <a:tblGrid>
                <a:gridCol w="1712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Karmaşıklık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No-CoT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RAFT (CoT)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Oracle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Kolay (1)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%87,</a:t>
                      </a:r>
                      <a:r>
                        <a:rPr lang="tr-TR" sz="1100" dirty="0">
                          <a:solidFill>
                            <a:srgbClr val="1A2A4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40"/>
                          </a:solidFill>
                        </a:rPr>
                        <a:t>%88,7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%90,6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Orta (2)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%67,5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40"/>
                          </a:solidFill>
                        </a:rPr>
                        <a:t>%72,9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%78,2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Zor (3)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%63,5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40"/>
                          </a:solidFill>
                        </a:rPr>
                        <a:t>%77,1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%79,2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Çok Zor (4)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%36,4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%72,7</a:t>
                      </a:r>
                      <a:endParaRPr lang="en-US" sz="11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%72,7</a:t>
                      </a:r>
                      <a:endParaRPr lang="en-US" sz="11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43F"/>
                          </a:solidFill>
                        </a:rPr>
                        <a:t>GENEL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</a:rPr>
                        <a:t>%76,4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%80,8</a:t>
                      </a:r>
                      <a:endParaRPr lang="en-US" sz="11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%84,3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596693" y="5349240"/>
            <a:ext cx="5506096" cy="777240"/>
          </a:xfrm>
          <a:prstGeom prst="roundRect">
            <a:avLst>
              <a:gd name="adj" fmla="val 9412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040880" y="5349240"/>
            <a:ext cx="50619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+%36,4  </a:t>
            </a:r>
            <a:r>
              <a:rPr lang="en-US" sz="12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tablolu sorgularda CoT, Oracle ile birebir aynı başarıyı yakalar.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365760"/>
            <a:ext cx="402336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3000" b="1" dirty="0">
                <a:solidFill>
                  <a:srgbClr val="1C3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56692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DÖRDÜNCÜ BÖLÜM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816352"/>
            <a:ext cx="566928" cy="64008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ve Sonuç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sorularının doğrulanması, çalışmanın genel sonuçları ve özgün katkıları, sınırlılıklar ve gelecek çalışmalara yönelik öneriler.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 VE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Sorularının Doğrulanması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556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Çalışmanın başında ortaya konan beş araştırma sorusu, elde edilen bulgularla doğrulanmıştır.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4323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328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2395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44168" y="26700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şema seçimi başarılı mı?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41848" y="2432304"/>
            <a:ext cx="12802" cy="457200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52160" y="228600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+ gelişmiş gömme ile şema erişim F1 0,79 → 0,88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140696" y="2459736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140696" y="245973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0,88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" y="3113532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8096" y="32598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icons/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6042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44168" y="32232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4168" y="34975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(TR+EN) sorgu katkı sağlar mı?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41848" y="3259836"/>
            <a:ext cx="12802" cy="457200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852160" y="311353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Türkçe–İngilizce hibrit gösterim şema erişim F1'ini 0,798 → 0,810'a taşıdı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10140696" y="328726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0140696" y="32872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+F1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66928" y="3941064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68096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8795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44168" y="40507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AS3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344168" y="432511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zenginleştirme EX'i artırır mı?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641848" y="4087368"/>
            <a:ext cx="12802" cy="457200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852160" y="394106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satır enjeksiyonu ile GPT-4o yürütme doğruluğu 0,70 → 0,78 (~%11)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10140696" y="4114800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0140696" y="411480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+%11 EX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66928" y="4768596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768096" y="49149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3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15484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344168" y="48783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AS4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1344168" y="51526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RAFT, RAG'a üstün mü?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641848" y="4914900"/>
            <a:ext cx="12802" cy="457200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852160" y="4768596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tüm modellerde daha yüksek EX</a:t>
            </a:r>
            <a:r>
              <a:rPr lang="tr-TR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 1.5 pro ile elde edildi.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10140696" y="4942332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0140696" y="49423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%84 EX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566928" y="5596128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68096" y="57424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4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843016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344168" y="5705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AS5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1344168" y="59801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karmaşık sorgularda etkili mi?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641848" y="5742432"/>
            <a:ext cx="12802" cy="457200"/>
          </a:xfrm>
          <a:prstGeom prst="rect">
            <a:avLst/>
          </a:prstGeom>
          <a:solidFill>
            <a:srgbClr val="D8DE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5852160" y="5596128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Düşünce zinciri çok zor (4 tablo) sorgularda doğruluğu +%36,4 artırdı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10140696" y="5769864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10140696" y="576986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+%36,4</a:t>
            </a:r>
            <a:endParaRPr lang="en-US" sz="1600" dirty="0"/>
          </a:p>
        </p:txBody>
      </p:sp>
      <p:sp>
        <p:nvSpPr>
          <p:cNvPr id="50" name="Text 4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 VE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Özgün Katkılar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tez, Türkçe sözel ifadelerden SQL üretimi için iki tamamlayıcı yaklaşımı (RAG ve RAFT) bütünleşik biçimde geliştirip karşılaştırarak literatüre özgün katkılar sunmuştur.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4" y="2764414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735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 Şema Erişimi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6758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ile büyük veri tabanlarında ilgili tabloların dinamik seçimi; şema erişim F1 0,88.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37744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43400" y="237744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9432" y="26517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86" y="2764414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2735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Zenginleştirme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9432" y="36758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Şemaya örnek satır enjeksiyonu ile bağlamsal anlama güçlendirildi; yürütme doğruluğunda ~%11 artış.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19872" y="237744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119872" y="237744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375904" y="26517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langu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8558" y="27644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32735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Dil Gösterimi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75904" y="36758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Türkçe–İngilizce hibrit sorgu ve şema eşlemesi ile diller arası anlamsal boşluk azaltıldı.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66928" y="452628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66928" y="452628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22960" y="48006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14" y="4913254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542239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İnce Ayarı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22960" y="58247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+ çeldirici şemalarla CoT destekli ince ayar; Gemini-1.5-pro %84, GPT-4o %83 EX.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43400" y="452628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343400" y="452628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599432" y="48006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4" descr="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2086" y="4913254"/>
            <a:ext cx="286756" cy="2867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99432" y="542239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Düşünce Zinciri (CoT)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599432" y="58247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akıl yürütme ile karmaşık sorgularda +%36 başarı; Oracle düzeyine ulaşıldı.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119872" y="452628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119872" y="4526280"/>
            <a:ext cx="3502152" cy="640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8375904" y="48006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5" descr="icons/rando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558" y="4913254"/>
            <a:ext cx="286756" cy="2867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75904" y="542239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Yinelemeli Onarım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375904" y="58247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 hatalarında otomatik geri besleme ile sorgu onarımı ve kendini düzeltme.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 VE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Sınırlılıklar ve Gelecek Çalışmalar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4668" cy="4434840"/>
          </a:xfrm>
          <a:prstGeom prst="roundRect">
            <a:avLst>
              <a:gd name="adj" fmla="val 2062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0A03A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excl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211628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2996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Sınırlılıklar</a:t>
            </a:r>
            <a:endParaRPr lang="en-US" sz="2000" dirty="0"/>
          </a:p>
        </p:txBody>
      </p:sp>
      <p:pic>
        <p:nvPicPr>
          <p:cNvPr id="8" name="Image 1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71576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651760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Yinelemeli onarım, ek API çağrıları nedeniyle gecikme ve maliyet artışına yol açar.</a:t>
            </a:r>
            <a:endParaRPr lang="en-US" sz="1150" dirty="0"/>
          </a:p>
        </p:txBody>
      </p:sp>
      <p:pic>
        <p:nvPicPr>
          <p:cNvPr id="10" name="Image 2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29184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227832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akademik ve görece temiz veri tabanları üzerinde yapılmıştır.</a:t>
            </a:r>
            <a:endParaRPr lang="en-US" sz="1150" dirty="0"/>
          </a:p>
        </p:txBody>
      </p:sp>
      <p:pic>
        <p:nvPicPr>
          <p:cNvPr id="12" name="Image 3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86791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803904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sorgu – İngilizce şema arasındaki dil uyumsuzluğu </a:t>
            </a:r>
            <a:r>
              <a:rPr lang="en-US" sz="1200" dirty="0"/>
              <a:t>geliştirilmeye açık bir alan olarak kalmıştır</a:t>
            </a:r>
            <a:r>
              <a:rPr lang="tr-TR" sz="1200" dirty="0"/>
              <a:t>.</a:t>
            </a:r>
            <a:endParaRPr lang="en-US" sz="1150" dirty="0"/>
          </a:p>
        </p:txBody>
      </p:sp>
      <p:pic>
        <p:nvPicPr>
          <p:cNvPr id="14" name="Image 4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4398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4379976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bazı tescilli modeller zamanla kullanımdan kalkabilmektedir.</a:t>
            </a:r>
            <a:endParaRPr lang="en-US" sz="1150" dirty="0"/>
          </a:p>
        </p:txBody>
      </p:sp>
      <p:pic>
        <p:nvPicPr>
          <p:cNvPr id="16" name="Image 5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020056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8720" y="4956048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CoT, çıktı uzunluğunu artırarak token maliyetini yükseltir.</a:t>
            </a:r>
            <a:endParaRPr lang="en-US" sz="1150" dirty="0"/>
          </a:p>
        </p:txBody>
      </p:sp>
      <p:pic>
        <p:nvPicPr>
          <p:cNvPr id="18" name="Image 6" descr="icons/exclam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96128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88720" y="5532120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modellerde 4-bit nicemleme bir miktar performans kaybına yol açabilir.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6277356" y="1783080"/>
            <a:ext cx="5344668" cy="4434840"/>
          </a:xfrm>
          <a:prstGeom prst="roundRect">
            <a:avLst>
              <a:gd name="adj" fmla="val 2062"/>
            </a:avLst>
          </a:prstGeom>
          <a:solidFill>
            <a:srgbClr val="12243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2"/>
          <p:cNvSpPr/>
          <p:nvPr/>
        </p:nvSpPr>
        <p:spPr>
          <a:xfrm>
            <a:off x="6569964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7" descr="icons/ro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571" y="2116287"/>
            <a:ext cx="266273" cy="26627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191756" y="2029968"/>
            <a:ext cx="4247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Çalışmalar</a:t>
            </a:r>
            <a:endParaRPr lang="en-US" sz="2000" dirty="0"/>
          </a:p>
        </p:txBody>
      </p:sp>
      <p:pic>
        <p:nvPicPr>
          <p:cNvPr id="24" name="Image 8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271576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99148" y="2651760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Türkçeye özgü yerli gömme modellerinin geliştirilmesi ve entegrasyonu.</a:t>
            </a:r>
            <a:endParaRPr lang="en-US" sz="1150" dirty="0"/>
          </a:p>
        </p:txBody>
      </p:sp>
      <p:pic>
        <p:nvPicPr>
          <p:cNvPr id="26" name="Image 9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329184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99148" y="3227832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RLHF gibi tercih temelli hizalama yöntemleriyle ince ayarın güçlendirilmesi.</a:t>
            </a:r>
            <a:endParaRPr lang="en-US" sz="1150" dirty="0"/>
          </a:p>
        </p:txBody>
      </p:sp>
      <p:pic>
        <p:nvPicPr>
          <p:cNvPr id="28" name="Image 10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3867912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99148" y="3803904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Yöntemin PostgreSQL, MySQL gibi farklı veri tabanı yönetim sistemlerine genişletilmesi.</a:t>
            </a:r>
            <a:endParaRPr lang="en-US" sz="1150" dirty="0"/>
          </a:p>
        </p:txBody>
      </p:sp>
      <p:pic>
        <p:nvPicPr>
          <p:cNvPr id="30" name="Image 11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44398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99148" y="4379976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dünya, gürültülü ve büyük ölçekli kurumsal şemalarda değerlendirme.</a:t>
            </a:r>
            <a:endParaRPr lang="en-US" sz="1150" dirty="0"/>
          </a:p>
        </p:txBody>
      </p:sp>
      <p:pic>
        <p:nvPicPr>
          <p:cNvPr id="32" name="Image 12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5020056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99148" y="4956048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Maliyet–doğruluk dengesini gözeten uyarlanabilir (adaptif) onarım stratejileri.</a:t>
            </a:r>
            <a:endParaRPr lang="en-US" sz="1150" dirty="0"/>
          </a:p>
        </p:txBody>
      </p:sp>
      <p:pic>
        <p:nvPicPr>
          <p:cNvPr id="34" name="Image 13" descr="icons/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5596128"/>
            <a:ext cx="182880" cy="18288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99148" y="5532120"/>
            <a:ext cx="4475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</a:t>
            </a:r>
            <a:r>
              <a:rPr lang="tr-TR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ajanlı</a:t>
            </a: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(multi-</a:t>
            </a:r>
            <a:r>
              <a:rPr lang="tr-TR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diyalog tabanlı sorgu üretimine genişletme.</a:t>
            </a:r>
            <a:endParaRPr lang="en-US" sz="1150" dirty="0"/>
          </a:p>
        </p:txBody>
      </p:sp>
      <p:sp>
        <p:nvSpPr>
          <p:cNvPr id="36" name="Text 2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37" name="Text 21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 VE SONUÇ</a:t>
            </a:r>
            <a:endParaRPr lang="en-US" sz="1250" dirty="0"/>
          </a:p>
        </p:txBody>
      </p:sp>
      <p:sp>
        <p:nvSpPr>
          <p:cNvPr id="3" name="Title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Tezden Üretilen Yayınlar</a:t>
            </a:r>
            <a:endParaRPr lang="en-US" sz="2700" dirty="0"/>
          </a:p>
        </p:txBody>
      </p:sp>
      <p:sp>
        <p:nvSpPr>
          <p:cNvPr id="4" name="Footer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5" name="PageNum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6" name="FCard"/>
          <p:cNvSpPr/>
          <p:nvPr/>
        </p:nvSpPr>
        <p:spPr>
          <a:xfrm>
            <a:off x="566928" y="1691640"/>
            <a:ext cx="11055096" cy="187452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Badge"/>
          <p:cNvSpPr/>
          <p:nvPr/>
        </p:nvSpPr>
        <p:spPr>
          <a:xfrm>
            <a:off x="786384" y="2240280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FBadgeT"/>
          <p:cNvSpPr/>
          <p:nvPr/>
        </p:nvSpPr>
        <p:spPr>
          <a:xfrm>
            <a:off x="78638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tr-T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FJourn"/>
          <p:cNvSpPr/>
          <p:nvPr/>
        </p:nvSpPr>
        <p:spPr>
          <a:xfrm>
            <a:off x="1700784" y="19659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Sciences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2026 · 16(2): 586</a:t>
            </a:r>
            <a:endParaRPr lang="en-US" sz="1500" dirty="0"/>
          </a:p>
        </p:txBody>
      </p:sp>
      <p:sp>
        <p:nvSpPr>
          <p:cNvPr id="10" name="FTitle"/>
          <p:cNvSpPr/>
          <p:nvPr/>
        </p:nvSpPr>
        <p:spPr>
          <a:xfrm>
            <a:off x="1700784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Retrieval with Embeddings and Vector Stores Using RAG and LLM-Based SQL Query Generation</a:t>
            </a:r>
            <a:endParaRPr lang="en-US" sz="1250" dirty="0"/>
          </a:p>
        </p:txBody>
      </p:sp>
      <p:sp>
        <p:nvSpPr>
          <p:cNvPr id="11" name="FAuth"/>
          <p:cNvSpPr/>
          <p:nvPr/>
        </p:nvSpPr>
        <p:spPr>
          <a:xfrm>
            <a:off x="1700784" y="31089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</a:t>
            </a:r>
            <a:endParaRPr lang="en-US" sz="1000" dirty="0"/>
          </a:p>
        </p:txBody>
      </p:sp>
      <p:sp>
        <p:nvSpPr>
          <p:cNvPr id="12" name="FPill"/>
          <p:cNvSpPr/>
          <p:nvPr/>
        </p:nvSpPr>
        <p:spPr>
          <a:xfrm>
            <a:off x="8275320" y="2194560"/>
            <a:ext cx="2926080" cy="84124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FPillT"/>
          <p:cNvSpPr/>
          <p:nvPr/>
        </p:nvSpPr>
        <p:spPr>
          <a:xfrm>
            <a:off x="8275320" y="219456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YAYIMLANDI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 · Q</a:t>
            </a:r>
            <a:r>
              <a:rPr lang="tr-TR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2-Scopus-Q1 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FCard"/>
          <p:cNvSpPr/>
          <p:nvPr/>
        </p:nvSpPr>
        <p:spPr>
          <a:xfrm>
            <a:off x="566928" y="3794760"/>
            <a:ext cx="11055096" cy="187452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FBadge"/>
          <p:cNvSpPr/>
          <p:nvPr/>
        </p:nvSpPr>
        <p:spPr>
          <a:xfrm>
            <a:off x="786384" y="4343400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FBadgeT"/>
          <p:cNvSpPr/>
          <p:nvPr/>
        </p:nvSpPr>
        <p:spPr>
          <a:xfrm>
            <a:off x="786384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tr-T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Q3</a:t>
            </a:r>
            <a:endParaRPr lang="en-US" sz="22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7" name="FJourn"/>
          <p:cNvSpPr/>
          <p:nvPr/>
        </p:nvSpPr>
        <p:spPr>
          <a:xfrm>
            <a:off x="1700784" y="40690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Gazi Üni. Müh.-Mim. Fak. Dergisi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2026</a:t>
            </a:r>
            <a:endParaRPr lang="en-US" sz="1500" dirty="0"/>
          </a:p>
        </p:txBody>
      </p:sp>
      <p:sp>
        <p:nvSpPr>
          <p:cNvPr id="18" name="FTitle"/>
          <p:cNvSpPr/>
          <p:nvPr/>
        </p:nvSpPr>
        <p:spPr>
          <a:xfrm>
            <a:off x="1700784" y="4434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sorgu dilinde sorgu üretimi için erişim destekli üretim ve erişim destekli uyarlama yöntemlerinin karşılaştırmalı değerlendirmesi</a:t>
            </a:r>
            <a:endParaRPr lang="en-US" sz="1250" dirty="0"/>
          </a:p>
        </p:txBody>
      </p:sp>
      <p:sp>
        <p:nvSpPr>
          <p:cNvPr id="19" name="FAuth"/>
          <p:cNvSpPr/>
          <p:nvPr/>
        </p:nvSpPr>
        <p:spPr>
          <a:xfrm>
            <a:off x="1700784" y="5212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</a:t>
            </a:r>
            <a:endParaRPr lang="en-US" sz="1000" dirty="0"/>
          </a:p>
        </p:txBody>
      </p:sp>
      <p:sp>
        <p:nvSpPr>
          <p:cNvPr id="20" name="FPill"/>
          <p:cNvSpPr/>
          <p:nvPr/>
        </p:nvSpPr>
        <p:spPr>
          <a:xfrm>
            <a:off x="8275320" y="4297680"/>
            <a:ext cx="2926080" cy="841248"/>
          </a:xfrm>
          <a:prstGeom prst="roundRect">
            <a:avLst>
              <a:gd name="adj" fmla="val 30000"/>
            </a:avLst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FPillT"/>
          <p:cNvSpPr/>
          <p:nvPr/>
        </p:nvSpPr>
        <p:spPr>
          <a:xfrm>
            <a:off x="8275320" y="429768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EDİLDİ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</a:t>
            </a:r>
            <a:r>
              <a:rPr lang="tr-TR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.Q3-Scopus Q2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aşamasında</a:t>
            </a:r>
            <a:r>
              <a:rPr lang="tr-TR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66928" y="4206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 VE SONUÇ</a:t>
            </a:r>
            <a:endParaRPr lang="en-US" sz="1250" dirty="0"/>
          </a:p>
        </p:txBody>
      </p:sp>
      <p:sp>
        <p:nvSpPr>
          <p:cNvPr id="3" name="Title"/>
          <p:cNvSpPr/>
          <p:nvPr/>
        </p:nvSpPr>
        <p:spPr>
          <a:xfrm>
            <a:off x="566928" y="713232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Diğer Yayınlar</a:t>
            </a:r>
            <a:endParaRPr lang="en-US" sz="2700" dirty="0"/>
          </a:p>
        </p:txBody>
      </p:sp>
      <p:sp>
        <p:nvSpPr>
          <p:cNvPr id="4" name="Footer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Yöntemi ile Türkçe Sözel İfadelerin SQL'e Dönüştürülmesi</a:t>
            </a:r>
            <a:endParaRPr lang="en-US" sz="800" dirty="0"/>
          </a:p>
        </p:txBody>
      </p:sp>
      <p:sp>
        <p:nvSpPr>
          <p:cNvPr id="5" name="PageNum"/>
          <p:cNvSpPr/>
          <p:nvPr/>
        </p:nvSpPr>
        <p:spPr>
          <a:xfrm>
            <a:off x="11274552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sp>
        <p:nvSpPr>
          <p:cNvPr id="6" name="SecL"/>
          <p:cNvSpPr/>
          <p:nvPr/>
        </p:nvSpPr>
        <p:spPr>
          <a:xfrm>
            <a:off x="566928" y="144475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YAYIMLANAN ÇALIŞMALAR</a:t>
            </a:r>
            <a:endParaRPr lang="en-US" sz="1150" dirty="0"/>
          </a:p>
        </p:txBody>
      </p:sp>
      <p:sp>
        <p:nvSpPr>
          <p:cNvPr id="7" name="CCard"/>
          <p:cNvSpPr/>
          <p:nvPr/>
        </p:nvSpPr>
        <p:spPr>
          <a:xfrm>
            <a:off x="566928" y="1783080"/>
            <a:ext cx="5358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CVenue"/>
          <p:cNvSpPr/>
          <p:nvPr/>
        </p:nvSpPr>
        <p:spPr>
          <a:xfrm>
            <a:off x="768096" y="1874520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2025 · 18(15):3579</a:t>
            </a:r>
            <a:endParaRPr lang="en-US" sz="1000" dirty="0"/>
          </a:p>
        </p:txBody>
      </p:sp>
      <p:sp>
        <p:nvSpPr>
          <p:cNvPr id="9" name="CTag"/>
          <p:cNvSpPr/>
          <p:nvPr/>
        </p:nvSpPr>
        <p:spPr>
          <a:xfrm>
            <a:off x="4296937" y="1874520"/>
            <a:ext cx="1445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SCI-E · Q2</a:t>
            </a:r>
            <a:r>
              <a:rPr lang="tr-TR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tr-TR" sz="1200" b="1" dirty="0" err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</a:t>
            </a:r>
            <a:r>
              <a:rPr lang="tr-TR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Q1</a:t>
            </a:r>
            <a:endParaRPr lang="en-US" sz="1200" dirty="0"/>
          </a:p>
        </p:txBody>
      </p:sp>
      <p:sp>
        <p:nvSpPr>
          <p:cNvPr id="10" name="CTitle"/>
          <p:cNvSpPr/>
          <p:nvPr/>
        </p:nvSpPr>
        <p:spPr>
          <a:xfrm>
            <a:off x="768096" y="2148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the Analysis of Rheological Behavior in Clinker-Aided Cementitious Systems Through Large Language Model-Based Synthetic Data Generation</a:t>
            </a:r>
            <a:endParaRPr lang="en-US" sz="900" dirty="0"/>
          </a:p>
        </p:txBody>
      </p:sp>
      <p:sp>
        <p:nvSpPr>
          <p:cNvPr id="11" name="CAuth"/>
          <p:cNvSpPr/>
          <p:nvPr/>
        </p:nvSpPr>
        <p:spPr>
          <a:xfrm>
            <a:off x="768096" y="238658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Eser, Y. Kaya, A. Mardani, M. Bilgin, </a:t>
            </a:r>
            <a:r>
              <a:rPr lang="en-US" sz="8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endParaRPr lang="en-US" sz="800" dirty="0"/>
          </a:p>
        </p:txBody>
      </p:sp>
      <p:sp>
        <p:nvSpPr>
          <p:cNvPr id="12" name="CCard"/>
          <p:cNvSpPr/>
          <p:nvPr/>
        </p:nvSpPr>
        <p:spPr>
          <a:xfrm>
            <a:off x="566928" y="2688336"/>
            <a:ext cx="5358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CVenue"/>
          <p:cNvSpPr/>
          <p:nvPr/>
        </p:nvSpPr>
        <p:spPr>
          <a:xfrm>
            <a:off x="768096" y="277977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ELECO 2024</a:t>
            </a: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2024</a:t>
            </a:r>
            <a:endParaRPr lang="en-US" sz="1000" dirty="0"/>
          </a:p>
        </p:txBody>
      </p:sp>
      <p:sp>
        <p:nvSpPr>
          <p:cNvPr id="14" name="CTag"/>
          <p:cNvSpPr/>
          <p:nvPr/>
        </p:nvSpPr>
        <p:spPr>
          <a:xfrm>
            <a:off x="4443984" y="27797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Bildiri</a:t>
            </a:r>
            <a:endParaRPr lang="en-US" sz="1200" dirty="0"/>
          </a:p>
        </p:txBody>
      </p:sp>
      <p:sp>
        <p:nvSpPr>
          <p:cNvPr id="15" name="CTitle"/>
          <p:cNvSpPr/>
          <p:nvPr/>
        </p:nvSpPr>
        <p:spPr>
          <a:xfrm>
            <a:off x="768096" y="30540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soru-cevap metinlerinde büyük dil modeli performans analizi</a:t>
            </a:r>
            <a:endParaRPr lang="en-US" sz="900" dirty="0"/>
          </a:p>
        </p:txBody>
      </p:sp>
      <p:sp>
        <p:nvSpPr>
          <p:cNvPr id="16" name="CAuth"/>
          <p:cNvSpPr/>
          <p:nvPr/>
        </p:nvSpPr>
        <p:spPr>
          <a:xfrm>
            <a:off x="768096" y="3291840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Bilgin, </a:t>
            </a:r>
            <a:r>
              <a:rPr lang="en-US" sz="8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E. Demir</a:t>
            </a:r>
            <a:endParaRPr lang="en-US" sz="800" dirty="0"/>
          </a:p>
        </p:txBody>
      </p:sp>
      <p:sp>
        <p:nvSpPr>
          <p:cNvPr id="17" name="CCard"/>
          <p:cNvSpPr/>
          <p:nvPr/>
        </p:nvSpPr>
        <p:spPr>
          <a:xfrm>
            <a:off x="566928" y="3593592"/>
            <a:ext cx="5358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CVenue"/>
          <p:cNvSpPr/>
          <p:nvPr/>
        </p:nvSpPr>
        <p:spPr>
          <a:xfrm>
            <a:off x="768096" y="3685032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ICNASEN-2023</a:t>
            </a: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2023</a:t>
            </a:r>
            <a:endParaRPr lang="en-US" sz="1000" dirty="0"/>
          </a:p>
        </p:txBody>
      </p:sp>
      <p:sp>
        <p:nvSpPr>
          <p:cNvPr id="19" name="CTag"/>
          <p:cNvSpPr/>
          <p:nvPr/>
        </p:nvSpPr>
        <p:spPr>
          <a:xfrm>
            <a:off x="4443984" y="3685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</a:t>
            </a:r>
            <a:endParaRPr lang="en-US" sz="1200" dirty="0"/>
          </a:p>
        </p:txBody>
      </p:sp>
      <p:sp>
        <p:nvSpPr>
          <p:cNvPr id="20" name="CTitle"/>
          <p:cNvSpPr/>
          <p:nvPr/>
        </p:nvSpPr>
        <p:spPr>
          <a:xfrm>
            <a:off x="768096" y="3959352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metinlerde sıfır-atışlı öğrenme ile metin sınıflandırma</a:t>
            </a:r>
            <a:endParaRPr lang="en-US" sz="900" dirty="0"/>
          </a:p>
        </p:txBody>
      </p:sp>
      <p:sp>
        <p:nvSpPr>
          <p:cNvPr id="21" name="CAuth"/>
          <p:cNvSpPr/>
          <p:nvPr/>
        </p:nvSpPr>
        <p:spPr>
          <a:xfrm>
            <a:off x="768096" y="419709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</a:t>
            </a:r>
            <a:endParaRPr lang="en-US" sz="800" dirty="0"/>
          </a:p>
        </p:txBody>
      </p:sp>
      <p:sp>
        <p:nvSpPr>
          <p:cNvPr id="22" name="CCard"/>
          <p:cNvSpPr/>
          <p:nvPr/>
        </p:nvSpPr>
        <p:spPr>
          <a:xfrm>
            <a:off x="566928" y="4498848"/>
            <a:ext cx="5358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CVenue"/>
          <p:cNvSpPr/>
          <p:nvPr/>
        </p:nvSpPr>
        <p:spPr>
          <a:xfrm>
            <a:off x="768096" y="4590288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Ulusal Kimya Müh. Kongresi</a:t>
            </a: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2025</a:t>
            </a:r>
            <a:endParaRPr lang="en-US" sz="1000" dirty="0"/>
          </a:p>
        </p:txBody>
      </p:sp>
      <p:sp>
        <p:nvSpPr>
          <p:cNvPr id="24" name="CTag"/>
          <p:cNvSpPr/>
          <p:nvPr/>
        </p:nvSpPr>
        <p:spPr>
          <a:xfrm>
            <a:off x="4443984" y="45902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</a:t>
            </a:r>
            <a:endParaRPr lang="en-US" sz="1200" dirty="0"/>
          </a:p>
        </p:txBody>
      </p:sp>
      <p:sp>
        <p:nvSpPr>
          <p:cNvPr id="25" name="CTitle"/>
          <p:cNvSpPr/>
          <p:nvPr/>
        </p:nvSpPr>
        <p:spPr>
          <a:xfrm>
            <a:off x="768096" y="486460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ile atıksudan TiO₂ ile boyar madde giderimi</a:t>
            </a:r>
            <a:endParaRPr lang="en-US" sz="900" dirty="0"/>
          </a:p>
        </p:txBody>
      </p:sp>
      <p:sp>
        <p:nvSpPr>
          <p:cNvPr id="26" name="CAuth"/>
          <p:cNvSpPr/>
          <p:nvPr/>
        </p:nvSpPr>
        <p:spPr>
          <a:xfrm>
            <a:off x="768096" y="5102352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Tokuş, </a:t>
            </a:r>
            <a:r>
              <a:rPr lang="en-US" sz="8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Bilgin, H. L. Hoşgün</a:t>
            </a:r>
            <a:endParaRPr lang="en-US" sz="800" dirty="0"/>
          </a:p>
        </p:txBody>
      </p:sp>
      <p:sp>
        <p:nvSpPr>
          <p:cNvPr id="27" name="CCard"/>
          <p:cNvSpPr/>
          <p:nvPr/>
        </p:nvSpPr>
        <p:spPr>
          <a:xfrm>
            <a:off x="566928" y="5404104"/>
            <a:ext cx="5358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5400000" algn="bl" rotWithShape="0">
              <a:srgbClr val="99A3AF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CVenue"/>
          <p:cNvSpPr/>
          <p:nvPr/>
        </p:nvSpPr>
        <p:spPr>
          <a:xfrm>
            <a:off x="768096" y="549554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Akademik Yayıncılık</a:t>
            </a: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2025</a:t>
            </a:r>
            <a:endParaRPr lang="en-US" sz="1000" dirty="0"/>
          </a:p>
        </p:txBody>
      </p:sp>
      <p:sp>
        <p:nvSpPr>
          <p:cNvPr id="29" name="CTag"/>
          <p:cNvSpPr/>
          <p:nvPr/>
        </p:nvSpPr>
        <p:spPr>
          <a:xfrm>
            <a:off x="4443984" y="54955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Bölümü</a:t>
            </a:r>
            <a:endParaRPr lang="en-US" sz="1200" dirty="0"/>
          </a:p>
        </p:txBody>
      </p:sp>
      <p:sp>
        <p:nvSpPr>
          <p:cNvPr id="30" name="CTitle"/>
          <p:cNvSpPr/>
          <p:nvPr/>
        </p:nvSpPr>
        <p:spPr>
          <a:xfrm>
            <a:off x="768096" y="576986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temsilleri ve gömme yöntemleri</a:t>
            </a:r>
            <a:endParaRPr lang="en-US" sz="900" dirty="0"/>
          </a:p>
        </p:txBody>
      </p:sp>
      <p:sp>
        <p:nvSpPr>
          <p:cNvPr id="31" name="CAuth"/>
          <p:cNvSpPr/>
          <p:nvPr/>
        </p:nvSpPr>
        <p:spPr>
          <a:xfrm>
            <a:off x="768096" y="6007608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Bilgin, </a:t>
            </a:r>
            <a:r>
              <a:rPr lang="en-US" sz="8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endParaRPr lang="en-US" sz="800" dirty="0"/>
          </a:p>
        </p:txBody>
      </p:sp>
      <p:sp>
        <p:nvSpPr>
          <p:cNvPr id="32" name="SecR1"/>
          <p:cNvSpPr/>
          <p:nvPr/>
        </p:nvSpPr>
        <p:spPr>
          <a:xfrm>
            <a:off x="6263640" y="1444752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DEĞERLENDİRME / YAYIM AŞAMASI</a:t>
            </a:r>
            <a:endParaRPr lang="en-US" sz="1150" dirty="0"/>
          </a:p>
        </p:txBody>
      </p:sp>
      <p:sp>
        <p:nvSpPr>
          <p:cNvPr id="33" name="PCard"/>
          <p:cNvSpPr/>
          <p:nvPr/>
        </p:nvSpPr>
        <p:spPr>
          <a:xfrm>
            <a:off x="6263640" y="1783080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PStripe"/>
          <p:cNvSpPr/>
          <p:nvPr/>
        </p:nvSpPr>
        <p:spPr>
          <a:xfrm>
            <a:off x="6263640" y="1783080"/>
            <a:ext cx="50292" cy="1280160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PTitle"/>
          <p:cNvSpPr/>
          <p:nvPr/>
        </p:nvSpPr>
        <p:spPr>
          <a:xfrm>
            <a:off x="6483096" y="190195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Atasözleri ve Deyimler İçin Çok Görevli Bir Çerçeve: Sınıflandırma, Anlamsal Kümeleme ve Anlam Üretimi</a:t>
            </a:r>
            <a:endParaRPr lang="en-US" sz="920" dirty="0"/>
          </a:p>
        </p:txBody>
      </p:sp>
      <p:sp>
        <p:nvSpPr>
          <p:cNvPr id="36" name="PAuth"/>
          <p:cNvSpPr/>
          <p:nvPr/>
        </p:nvSpPr>
        <p:spPr>
          <a:xfrm>
            <a:off x="6483096" y="24963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Bilgin, </a:t>
            </a:r>
            <a:r>
              <a:rPr lang="en-US" sz="82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E. Demir</a:t>
            </a:r>
            <a:endParaRPr lang="en-US" sz="820" dirty="0"/>
          </a:p>
        </p:txBody>
      </p:sp>
      <p:sp>
        <p:nvSpPr>
          <p:cNvPr id="37" name="PVenSt"/>
          <p:cNvSpPr/>
          <p:nvPr/>
        </p:nvSpPr>
        <p:spPr>
          <a:xfrm>
            <a:off x="6483096" y="27157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Bilimleri ve Müh. Dergisi  </a:t>
            </a:r>
            <a:r>
              <a:rPr lang="en-US" sz="8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edildi, yayım aşamasında</a:t>
            </a:r>
            <a:endParaRPr lang="en-US" sz="850" dirty="0"/>
          </a:p>
        </p:txBody>
      </p:sp>
      <p:sp>
        <p:nvSpPr>
          <p:cNvPr id="38" name="PCard"/>
          <p:cNvSpPr/>
          <p:nvPr/>
        </p:nvSpPr>
        <p:spPr>
          <a:xfrm>
            <a:off x="6263640" y="3191256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PStripe"/>
          <p:cNvSpPr/>
          <p:nvPr/>
        </p:nvSpPr>
        <p:spPr>
          <a:xfrm>
            <a:off x="6263640" y="3191256"/>
            <a:ext cx="50292" cy="1280160"/>
          </a:xfrm>
          <a:prstGeom prst="rect">
            <a:avLst/>
          </a:prstGeom>
          <a:solidFill>
            <a:srgbClr val="5C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PTitle"/>
          <p:cNvSpPr/>
          <p:nvPr/>
        </p:nvSpPr>
        <p:spPr>
          <a:xfrm>
            <a:off x="6483096" y="331012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 in Disaster Management: Scalable NER via LLM-Based Stacking and Pseudo-Label Generation</a:t>
            </a:r>
            <a:r>
              <a:rPr lang="tr-TR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/>
              <a:t>SSCI • Q1</a:t>
            </a:r>
            <a:r>
              <a:rPr lang="en-US" sz="1000" dirty="0"/>
              <a:t> </a:t>
            </a:r>
            <a:endParaRPr lang="en-US" sz="920" dirty="0"/>
          </a:p>
        </p:txBody>
      </p:sp>
      <p:sp>
        <p:nvSpPr>
          <p:cNvPr id="41" name="PAuth"/>
          <p:cNvSpPr/>
          <p:nvPr/>
        </p:nvSpPr>
        <p:spPr>
          <a:xfrm>
            <a:off x="6483096" y="39044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Ö. Cingiz, </a:t>
            </a:r>
            <a:r>
              <a:rPr lang="en-US" sz="82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</a:t>
            </a:r>
            <a:endParaRPr lang="en-US" sz="820" dirty="0"/>
          </a:p>
        </p:txBody>
      </p:sp>
      <p:sp>
        <p:nvSpPr>
          <p:cNvPr id="42" name="PVenSt"/>
          <p:cNvSpPr/>
          <p:nvPr/>
        </p:nvSpPr>
        <p:spPr>
          <a:xfrm>
            <a:off x="6483096" y="412394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Processing &amp; Management  </a:t>
            </a:r>
            <a:r>
              <a:rPr lang="en-US" sz="850" b="1" dirty="0">
                <a:solidFill>
                  <a:srgbClr val="1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değerlendirmesinde (minor rev.)</a:t>
            </a:r>
          </a:p>
        </p:txBody>
      </p:sp>
      <p:sp>
        <p:nvSpPr>
          <p:cNvPr id="43" name="SecR2"/>
          <p:cNvSpPr/>
          <p:nvPr/>
        </p:nvSpPr>
        <p:spPr>
          <a:xfrm>
            <a:off x="6263640" y="4636008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endParaRPr lang="en-US" sz="1150" dirty="0"/>
          </a:p>
        </p:txBody>
      </p:sp>
      <p:sp>
        <p:nvSpPr>
          <p:cNvPr id="44" name="PCard"/>
          <p:cNvSpPr/>
          <p:nvPr/>
        </p:nvSpPr>
        <p:spPr>
          <a:xfrm>
            <a:off x="6263640" y="4956048"/>
            <a:ext cx="5358384" cy="128016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PStripe"/>
          <p:cNvSpPr/>
          <p:nvPr/>
        </p:nvSpPr>
        <p:spPr>
          <a:xfrm>
            <a:off x="6263640" y="4956048"/>
            <a:ext cx="50292" cy="12801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PTitle"/>
          <p:cNvSpPr/>
          <p:nvPr/>
        </p:nvSpPr>
        <p:spPr>
          <a:xfrm>
            <a:off x="6483096" y="50749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kesim makineleri için büyük dil modeli tabanlı </a:t>
            </a:r>
            <a:r>
              <a:rPr lang="en-US" sz="920" dirty="0" err="1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</a:t>
            </a:r>
            <a:r>
              <a:rPr lang="en-US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20" dirty="0" err="1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asistan</a:t>
            </a:r>
            <a:r>
              <a:rPr lang="tr-TR" sz="92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(Bursiyer)</a:t>
            </a:r>
            <a:endParaRPr lang="en-US" sz="920" dirty="0"/>
          </a:p>
        </p:txBody>
      </p:sp>
      <p:sp>
        <p:nvSpPr>
          <p:cNvPr id="47" name="PAuth"/>
          <p:cNvSpPr/>
          <p:nvPr/>
        </p:nvSpPr>
        <p:spPr>
          <a:xfrm>
            <a:off x="6483096" y="5669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Bozdemir</a:t>
            </a:r>
            <a:r>
              <a:rPr lang="en-US" sz="82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Bilgin</a:t>
            </a:r>
            <a:endParaRPr lang="en-US" sz="820" dirty="0"/>
          </a:p>
        </p:txBody>
      </p:sp>
      <p:sp>
        <p:nvSpPr>
          <p:cNvPr id="48" name="PVenSt"/>
          <p:cNvSpPr/>
          <p:nvPr/>
        </p:nvSpPr>
        <p:spPr>
          <a:xfrm>
            <a:off x="6483096" y="5888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1711 Yapay Zekâ Ekosistem </a:t>
            </a:r>
            <a:r>
              <a:rPr lang="en-US" sz="850" i="1" dirty="0" err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Çağrısı</a:t>
            </a:r>
            <a:r>
              <a:rPr lang="en-US" sz="850" i="1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b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2025–2026)</a:t>
            </a:r>
            <a:endParaRPr lang="en-US" sz="8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108960"/>
            <a:ext cx="5943600" cy="5943600"/>
          </a:xfrm>
          <a:prstGeom prst="ellipse">
            <a:avLst/>
          </a:prstGeom>
          <a:solidFill>
            <a:srgbClr val="15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2377440"/>
            <a:ext cx="5486400" cy="5486400"/>
          </a:xfrm>
          <a:prstGeom prst="ellipse">
            <a:avLst/>
          </a:prstGeom>
          <a:solidFill>
            <a:srgbClr val="1730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12344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 Ederim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5682996" y="4041648"/>
            <a:ext cx="822960" cy="64008"/>
          </a:xfrm>
          <a:prstGeom prst="rect">
            <a:avLst/>
          </a:prstGeom>
          <a:solidFill>
            <a:srgbClr val="E0A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0" y="422452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teşekkür eder, soru ve katkılarınızı beklerim.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BOZDEMİR</a:t>
            </a: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Doç. Dr. Metin BİLGİN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4864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Uludağ Üniversitesi · Fen Bilimleri Enstitüsü · Bilgisayar Mühendisliği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312680-0044-4f18-bf68-e4537d7dfa9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49176126E36244A3EAD0F37389E8ED" ma:contentTypeVersion="13" ma:contentTypeDescription="Yeni belge oluşturun." ma:contentTypeScope="" ma:versionID="0ee3e7357556feae71151b61b9c42201">
  <xsd:schema xmlns:xsd="http://www.w3.org/2001/XMLSchema" xmlns:xs="http://www.w3.org/2001/XMLSchema" xmlns:p="http://schemas.microsoft.com/office/2006/metadata/properties" xmlns:ns3="88312680-0044-4f18-bf68-e4537d7dfa98" xmlns:ns4="f6d23572-0e4b-4786-8c0c-506efc3401a9" targetNamespace="http://schemas.microsoft.com/office/2006/metadata/properties" ma:root="true" ma:fieldsID="2779c5df177a459689f3aed534256de3" ns3:_="" ns4:_="">
    <xsd:import namespace="88312680-0044-4f18-bf68-e4537d7dfa98"/>
    <xsd:import namespace="f6d23572-0e4b-4786-8c0c-506efc3401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12680-0044-4f18-bf68-e4537d7dfa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23572-0e4b-4786-8c0c-506efc3401a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İpucu Paylaşımı Karması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6F40E-491F-476E-B6A4-E52414BA37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BF380B-D1FC-44D6-863B-70B5D7202CEE}">
  <ds:schemaRefs>
    <ds:schemaRef ds:uri="f6d23572-0e4b-4786-8c0c-506efc3401a9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88312680-0044-4f18-bf68-e4537d7dfa98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2EF27EE-AA6A-4240-9137-99F98D826F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312680-0044-4f18-bf68-e4537d7dfa98"/>
    <ds:schemaRef ds:uri="f6d23572-0e4b-4786-8c0c-506efc3401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3978</Words>
  <Application>Microsoft Office PowerPoint</Application>
  <PresentationFormat>Widescreen</PresentationFormat>
  <Paragraphs>762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Doktora Tez Savunması</dc:title>
  <dc:subject>PptxGenJS Presentation</dc:subject>
  <dc:creator>Mehmet Bozdemir</dc:creator>
  <cp:lastModifiedBy>mehmet bozdemir</cp:lastModifiedBy>
  <cp:revision>76</cp:revision>
  <dcterms:created xsi:type="dcterms:W3CDTF">2026-06-24T10:09:44Z</dcterms:created>
  <dcterms:modified xsi:type="dcterms:W3CDTF">2026-06-30T09:56:02Z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0x010100A649176126E36244A3EAD0F37389E8ED</vt:lpwstr>
  </property>
</Properties>
</file>